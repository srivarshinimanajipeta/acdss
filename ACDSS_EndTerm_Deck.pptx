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59" r:id="rId4"/>
    <p:sldId id="261" r:id="rId5"/>
    <p:sldId id="262" r:id="rId6"/>
    <p:sldId id="263" r:id="rId7"/>
    <p:sldId id="264" r:id="rId8"/>
    <p:sldId id="265" r:id="rId9"/>
    <p:sldId id="266" r:id="rId10"/>
    <p:sldId id="268" r:id="rId11"/>
    <p:sldId id="269" r:id="rId12"/>
    <p:sldId id="270" r:id="rId13"/>
    <p:sldId id="271" r:id="rId14"/>
    <p:sldId id="274" r:id="rId15"/>
    <p:sldId id="277" r:id="rId16"/>
    <p:sldId id="279" r:id="rId17"/>
    <p:sldId id="280" r:id="rId18"/>
    <p:sldId id="286" r:id="rId19"/>
    <p:sldId id="284" r:id="rId20"/>
    <p:sldId id="28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A715E6-0884-414E-B3B3-D7A374C44E56}" v="454" dt="2026-08-02T19:31:36.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1FFDA35-5CB5-4594-8C51-0B0A461344A3}" type="datetimeFigureOut">
              <a:t>8/2/2026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C435253-B87E-443F-81E1-17474E237D28}" type="slidenum">
              <a:t>‹#›</a:t>
            </a:fld>
            <a:endParaRPr lang="en-US"/>
          </a:p>
        </p:txBody>
      </p:sp>
    </p:spTree>
    <p:extLst>
      <p:ext uri="{BB962C8B-B14F-4D97-AF65-F5344CB8AC3E}">
        <p14:creationId xmlns:p14="http://schemas.microsoft.com/office/powerpoint/2010/main" val="2465034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framing: a language model on its own is not clinically usable, and this project asks whether that can be fixed by architecture rather than by a bigger model. Everything that follows is evidence for that claim.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framing sentence first, then say the four bullets are the four design moves that answer it. Do not read the bullets — name each in three words and move on. The examiner will ask about the confidence gate, so flag it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justifies the whole project. Spend time here.
Say plainly: these three failures are not fixed by a better model, they are properties of how the model is used. Then land the takeaway — we replace one large prompt with a graph of small steps, each with a defined input, output and failure behaviour. The pipeline is slower; in exchange it can say how confident it is, try again, and show its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 it is the answer to 'what is new here?'.
Emphasise two: (1) constraint-before-plan, because it converts a safety hope into a safety guarantee — the planner never sees a world where the constraints are unknown; (2) the divergent knowledge bases, because a single index cannot separate reference-range evidence from management evidence.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every prior approach optimises one axis thoroughly and leaves the others to future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five. Name the strand, give the one-line limitation, move on. Spend your time on CARE — it is the closest antecedent and the examiner will want to know how you differ from it. The difference is that CARE stops at the diagnosis label and never asks whether the treatment is safe for this patient.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row of the table aloud, then the three gaps. Say clearly: the methodology chapter is organised around closing exactly these three.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principles verbally: nothing asserted that was not retrieved; every output checked by a different prompt; safety is a property of the graph; uncertainty is surfaced, not smoothed.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k differs: the diagnosis index holds reference-range material where several nearby chunks are needed for one assay; the treatment index holds contiguous per-condition sections, so two suffice and more context window is left for the plan itself. That asymmetry is a design decision, not an accident.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nodes in one sentence each.
1. Extraction — OCR text to test-name to result, keeping units, because discarding the unit makes the later comparison ambiguous.
2. Retrieval — one similarity query per marker, concatenated under a per-marker heading so the analyst knows which passage belongs to which marker.
3. Analysis — grades each marker strictly against the retrieved text, and states the finding twice: once for the clinician, once in plain language for the patient.
4. The auditor — the key idea. It is not asked how confident it feels; it is asked to compare two artefacts it did not produce and report hallucinated or missed values. That is what makes the score meaningful.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equation on the board verbally: below eighty, and we have retries left, go back and analyse again. Otherwise stop.
The examiner's likely question is 'why 80 and why 2?' — answer honestly: chosen by judgement, and with a labelled corpus they become empirical questions. That is listed in future scope.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point to make here: the ordering IS the safety mechanism. Asking a model politely not to prescribe a contraindicated drug is unreliable; computing the constraints in a node that runs first makes it part of the planner's problem statement.
Also mention the rationale field — every step carries the clinical reason for it, which is what lets a clinician argue with the plan step by step rather than accepting or rejecting it wholesale.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worth saying slowly is the last one. Defaults matter in clinical software: when the audit itself fails, the system must degrade towards caution, not towards approval.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flow is split into two user-visible steps rather than one — a deliberate change since the mid-term.
It halves time to first output; it lets the patient add symptoms after seeing the report, which feeds both the contraindication node and the planner; and a treatment failure no longer discards a successful diagnosis.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a quarter of the clinical evidence never reaches the agents at all. Every downstream guarantee is conditional on a number the system may never have read.
Then say the aggregate is less informative than the spread, and the spread has a reproducible cause —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this table is measured, not asserted — the routing function was swept exhaustively over its decision domain.
Then pre-empt the obvious question by raising it yourself: this does NOT establish that a retry improves the answer. That needs a labelled corpus and repeated live inference, and it is the first item in future scope.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model-call line: seven calls per run without a retry — extraction, analysis, audit; contraindication check, plan, severity; and the Meta-Evaluator. Retrieval adds none at request time because the indices are pre-built.
That is the price of the auditing architecture, and it is the argument for the two-step interface: the user reads the diagnosis after three calls rather than waiting for all seven.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deliberately: the three cards map one-to-one onto the three failure modes from the second slide. Fabricated authority is answered by grounding, single-shot answers by the auditor and confidence gate, and the missing audit trail by a pipeline whose every intermediate artefact is inspectable and whose plan is cross-validated.
The claim to make is a conceptual one: the contribution is not a model, it is an architecture in which these properties are structural rather than hoped for.
Then hand over honestly — diagnostic accuracy is still unmeasured and the retry loop is verified but not yet shown to help. Frame that as the platform being ready for the accuracy questions, which is exactly what the next slide covers.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685800" y="1874520"/>
            <a:ext cx="10789920" cy="73152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Autonomous Clinical Decision Support System</a:t>
            </a:r>
            <a:endParaRPr lang="en-US" sz="3600" dirty="0"/>
          </a:p>
        </p:txBody>
      </p:sp>
      <p:sp>
        <p:nvSpPr>
          <p:cNvPr id="3" name="Text 1"/>
          <p:cNvSpPr/>
          <p:nvPr/>
        </p:nvSpPr>
        <p:spPr>
          <a:xfrm>
            <a:off x="685800" y="2633472"/>
            <a:ext cx="10789920" cy="411480"/>
          </a:xfrm>
          <a:prstGeom prst="rect">
            <a:avLst/>
          </a:prstGeom>
          <a:noFill/>
          <a:ln/>
        </p:spPr>
        <p:txBody>
          <a:bodyPr wrap="square" lIns="0" tIns="0" rIns="0" bIns="0" rtlCol="0" anchor="ctr"/>
          <a:lstStyle/>
          <a:p>
            <a:pPr algn="ctr"/>
            <a:r>
              <a:rPr lang="en-US" sz="1900" dirty="0">
                <a:solidFill>
                  <a:srgbClr val="A9BAD4"/>
                </a:solidFill>
                <a:latin typeface="Calibri"/>
                <a:ea typeface="Calibri"/>
                <a:cs typeface="Calibri"/>
              </a:rPr>
              <a:t>An Agentic Retrieval-Augmented AI Doctor Co-Pilot</a:t>
            </a:r>
            <a:endParaRPr lang="en-US" sz="1900" dirty="0">
              <a:latin typeface="Calibri"/>
              <a:ea typeface="Calibri"/>
              <a:cs typeface="Calibri"/>
            </a:endParaRPr>
          </a:p>
        </p:txBody>
      </p:sp>
      <p:sp>
        <p:nvSpPr>
          <p:cNvPr id="4" name="Shape 2"/>
          <p:cNvSpPr/>
          <p:nvPr/>
        </p:nvSpPr>
        <p:spPr>
          <a:xfrm>
            <a:off x="4983480" y="3337560"/>
            <a:ext cx="2194560" cy="0"/>
          </a:xfrm>
          <a:prstGeom prst="line">
            <a:avLst/>
          </a:prstGeom>
          <a:noFill/>
          <a:ln w="15875">
            <a:solidFill>
              <a:srgbClr val="3B5578"/>
            </a:solidFill>
            <a:prstDash val="solid"/>
          </a:ln>
        </p:spPr>
      </p:sp>
      <p:sp>
        <p:nvSpPr>
          <p:cNvPr id="5" name="Text 3"/>
          <p:cNvSpPr/>
          <p:nvPr/>
        </p:nvSpPr>
        <p:spPr>
          <a:xfrm>
            <a:off x="685800" y="3611880"/>
            <a:ext cx="10789920" cy="777240"/>
          </a:xfrm>
          <a:prstGeom prst="rect">
            <a:avLst/>
          </a:prstGeom>
          <a:noFill/>
          <a:ln/>
        </p:spPr>
        <p:txBody>
          <a:bodyPr wrap="square" lIns="0" tIns="0" rIns="0" bIns="0" rtlCol="0" anchor="ctr"/>
          <a:lstStyle/>
          <a:p>
            <a:pPr marL="0" indent="0" algn="ctr">
              <a:lnSpc>
                <a:spcPts val="2500"/>
              </a:lnSpc>
              <a:buNone/>
            </a:pPr>
            <a:r>
              <a:rPr lang="en-US" sz="1700" b="1" dirty="0">
                <a:solidFill>
                  <a:srgbClr val="FFFFFF"/>
                </a:solidFill>
                <a:latin typeface="Calibri" pitchFamily="34" charset="0"/>
                <a:ea typeface="Calibri" pitchFamily="34" charset="-122"/>
                <a:cs typeface="Calibri" pitchFamily="34" charset="-120"/>
              </a:rPr>
              <a:t>Udayveer</a:t>
            </a:r>
            <a:r>
              <a:rPr lang="en-US" sz="1700" dirty="0">
                <a:solidFill>
                  <a:srgbClr val="A9BAD4"/>
                </a:solidFill>
                <a:latin typeface="Calibri" pitchFamily="34" charset="0"/>
                <a:ea typeface="Calibri" pitchFamily="34" charset="-122"/>
                <a:cs typeface="Calibri" pitchFamily="34" charset="-120"/>
              </a:rPr>
              <a:t>   123108011</a:t>
            </a:r>
            <a:endParaRPr lang="en-US" sz="1700" dirty="0"/>
          </a:p>
          <a:p>
            <a:pPr marL="0" indent="0" algn="ctr">
              <a:lnSpc>
                <a:spcPts val="2500"/>
              </a:lnSpc>
              <a:buNone/>
            </a:pPr>
            <a:r>
              <a:rPr lang="en-US" sz="1700" b="1" dirty="0">
                <a:solidFill>
                  <a:srgbClr val="FFFFFF"/>
                </a:solidFill>
                <a:latin typeface="Calibri"/>
                <a:ea typeface="Calibri"/>
                <a:cs typeface="Calibri"/>
              </a:rPr>
              <a:t>Pyata Harshith</a:t>
            </a:r>
            <a:r>
              <a:rPr lang="en-US" sz="1700" dirty="0">
                <a:solidFill>
                  <a:srgbClr val="A9BAD4"/>
                </a:solidFill>
                <a:latin typeface="Calibri"/>
                <a:ea typeface="Calibri"/>
                <a:cs typeface="Calibri"/>
              </a:rPr>
              <a:t>   123108056</a:t>
            </a:r>
            <a:endParaRPr lang="en-US" sz="1700">
              <a:latin typeface="Calibri"/>
              <a:ea typeface="Calibri"/>
              <a:cs typeface="Calibri"/>
            </a:endParaRPr>
          </a:p>
        </p:txBody>
      </p:sp>
      <p:sp>
        <p:nvSpPr>
          <p:cNvPr id="6" name="Text 4"/>
          <p:cNvSpPr/>
          <p:nvPr/>
        </p:nvSpPr>
        <p:spPr>
          <a:xfrm>
            <a:off x="685800" y="4526280"/>
            <a:ext cx="10789920" cy="32004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Under the supervision of  Dr. Vaibhav Aggarwal</a:t>
            </a:r>
            <a:endParaRPr lang="en-US" sz="1500" dirty="0"/>
          </a:p>
        </p:txBody>
      </p:sp>
      <p:sp>
        <p:nvSpPr>
          <p:cNvPr id="7" name="Text 5"/>
          <p:cNvSpPr/>
          <p:nvPr/>
        </p:nvSpPr>
        <p:spPr>
          <a:xfrm>
            <a:off x="685800" y="4956048"/>
            <a:ext cx="10789920" cy="731520"/>
          </a:xfrm>
          <a:prstGeom prst="rect">
            <a:avLst/>
          </a:prstGeom>
          <a:noFill/>
          <a:ln/>
        </p:spPr>
        <p:txBody>
          <a:bodyPr wrap="square" lIns="0" tIns="0" rIns="0" bIns="0" rtlCol="0" anchor="ctr"/>
          <a:lstStyle/>
          <a:p>
            <a:pPr marL="0" indent="0" algn="ctr">
              <a:lnSpc>
                <a:spcPts val="2000"/>
              </a:lnSpc>
              <a:buNone/>
            </a:pPr>
            <a:r>
              <a:rPr lang="en-US" sz="1400" dirty="0">
                <a:solidFill>
                  <a:srgbClr val="A9BAD4"/>
                </a:solidFill>
                <a:latin typeface="Calibri" pitchFamily="34" charset="0"/>
                <a:ea typeface="Calibri" pitchFamily="34" charset="-122"/>
                <a:cs typeface="Calibri" pitchFamily="34" charset="-120"/>
              </a:rPr>
              <a:t>Department of Computer Engineering</a:t>
            </a:r>
            <a:endParaRPr lang="en-US" sz="1400" dirty="0"/>
          </a:p>
          <a:p>
            <a:pPr marL="0" indent="0" algn="ctr">
              <a:lnSpc>
                <a:spcPts val="2000"/>
              </a:lnSpc>
              <a:buNone/>
            </a:pPr>
            <a:r>
              <a:rPr lang="en-US" sz="1400" dirty="0">
                <a:solidFill>
                  <a:srgbClr val="A9BAD4"/>
                </a:solidFill>
                <a:latin typeface="Calibri" pitchFamily="34" charset="0"/>
                <a:ea typeface="Calibri" pitchFamily="34" charset="-122"/>
                <a:cs typeface="Calibri" pitchFamily="34" charset="-120"/>
              </a:rPr>
              <a:t>National Institute of Technology, Kurukshetra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4" name="Text 2"/>
          <p:cNvSpPr/>
          <p:nvPr/>
        </p:nvSpPr>
        <p:spPr>
          <a:xfrm>
            <a:off x="701142" y="593726"/>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Abstract</a:t>
            </a:r>
            <a:endParaRPr lang="en-US" sz="3000" dirty="0"/>
          </a:p>
        </p:txBody>
      </p:sp>
      <p:sp>
        <p:nvSpPr>
          <p:cNvPr id="5" name="Text 3"/>
          <p:cNvSpPr/>
          <p:nvPr/>
        </p:nvSpPr>
        <p:spPr>
          <a:xfrm>
            <a:off x="685800" y="1500987"/>
            <a:ext cx="10789920" cy="960120"/>
          </a:xfrm>
          <a:prstGeom prst="rect">
            <a:avLst/>
          </a:prstGeom>
          <a:noFill/>
          <a:ln/>
        </p:spPr>
        <p:txBody>
          <a:bodyPr wrap="square" lIns="0" tIns="0" rIns="0" bIns="0" rtlCol="0" anchor="ctr"/>
          <a:lstStyle/>
          <a:p>
            <a:pPr marL="0" indent="0">
              <a:lnSpc>
                <a:spcPts val="2400"/>
              </a:lnSpc>
              <a:buNone/>
            </a:pPr>
            <a:r>
              <a:rPr lang="en-US" sz="1600" dirty="0">
                <a:solidFill>
                  <a:srgbClr val="1E293B"/>
                </a:solidFill>
                <a:latin typeface="Calibri" pitchFamily="34" charset="0"/>
                <a:ea typeface="Calibri" pitchFamily="34" charset="-122"/>
                <a:cs typeface="Calibri" pitchFamily="34" charset="-120"/>
              </a:rPr>
              <a:t>A general-purpose language model used as a clinical assistant fails in three predictable ways: it fabricates reference ranges, it reports a single-shot answer with no notion of its own reliability, and it leaves no audit trail. Any one of these is disqualifying in a clinical setting.</a:t>
            </a:r>
            <a:endParaRPr lang="en-US" sz="1600" dirty="0"/>
          </a:p>
        </p:txBody>
      </p:sp>
      <p:sp>
        <p:nvSpPr>
          <p:cNvPr id="6" name="Text 4"/>
          <p:cNvSpPr/>
          <p:nvPr/>
        </p:nvSpPr>
        <p:spPr>
          <a:xfrm>
            <a:off x="685800" y="2271271"/>
            <a:ext cx="10789920" cy="3931920"/>
          </a:xfrm>
          <a:prstGeom prst="rect">
            <a:avLst/>
          </a:prstGeom>
          <a:noFill/>
          <a:ln/>
        </p:spPr>
        <p:txBody>
          <a:bodyPr wrap="square" lIns="0" tIns="0" rIns="0" bIns="0" rtlCol="0" anchor="ctr"/>
          <a:lstStyle/>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ACDSS turns a photograph of a laboratory report into a grounded diagnostic hypothesis and a contraindication-aware treatment plan</a:t>
            </a:r>
            <a:endParaRPr lang="en-US" sz="1550" dirty="0"/>
          </a:p>
          <a:p>
            <a:pPr marL="228600" indent="-228600">
              <a:lnSpc>
                <a:spcPts val="2093"/>
              </a:lnSpc>
              <a:spcAft>
                <a:spcPts val="900"/>
              </a:spcAft>
              <a:buSzPct val="100000"/>
              <a:buChar char="•"/>
            </a:pPr>
            <a:r>
              <a:rPr lang="en-US" sz="1550" b="1" dirty="0">
                <a:solidFill>
                  <a:srgbClr val="1E293B"/>
                </a:solidFill>
                <a:latin typeface="Calibri"/>
                <a:ea typeface="Calibri"/>
                <a:cs typeface="Calibri"/>
              </a:rPr>
              <a:t>Two independent four-node </a:t>
            </a:r>
            <a:r>
              <a:rPr lang="en-US" sz="1550" b="1" dirty="0" err="1">
                <a:solidFill>
                  <a:srgbClr val="1E293B"/>
                </a:solidFill>
                <a:latin typeface="Calibri"/>
                <a:ea typeface="Calibri"/>
                <a:cs typeface="Calibri"/>
              </a:rPr>
              <a:t>LangGraph</a:t>
            </a:r>
            <a:r>
              <a:rPr lang="en-US" sz="1550" b="1" dirty="0">
                <a:solidFill>
                  <a:srgbClr val="1E293B"/>
                </a:solidFill>
                <a:latin typeface="Calibri"/>
                <a:ea typeface="Calibri"/>
                <a:cs typeface="Calibri"/>
              </a:rPr>
              <a:t>  state machines, each retrieving from its own Chroma index</a:t>
            </a:r>
            <a:endParaRPr lang="en-US" sz="1550" dirty="0">
              <a:latin typeface="Calibri"/>
              <a:ea typeface="Calibri"/>
              <a:cs typeface="Calibri"/>
            </a:endParaRPr>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A confidence-gated conditional edge returns low-confidence results for re-analysis with the auditor's criticism attached</a:t>
            </a:r>
            <a:endParaRPr lang="en-US" sz="1550" dirty="0"/>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Contraindications derived before the planner runs — safety enforced by the shape of the graph, not the wording of a prompt</a:t>
            </a:r>
            <a:endParaRPr lang="en-US" sz="1550" dirty="0"/>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A Meta-Evaluator cross-validates the plan against the diagnosis and emits a quality score and safety verdict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The Problem</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Why a language model alone is not clinically usable</a:t>
            </a:r>
            <a:endParaRPr lang="en-US" sz="1400" dirty="0"/>
          </a:p>
        </p:txBody>
      </p:sp>
      <p:sp>
        <p:nvSpPr>
          <p:cNvPr id="6" name="Shape 4"/>
          <p:cNvSpPr/>
          <p:nvPr/>
        </p:nvSpPr>
        <p:spPr>
          <a:xfrm>
            <a:off x="685800" y="1417320"/>
            <a:ext cx="3520440" cy="1965960"/>
          </a:xfrm>
          <a:prstGeom prst="roundRect">
            <a:avLst>
              <a:gd name="adj" fmla="val 3721"/>
            </a:avLst>
          </a:prstGeom>
          <a:solidFill>
            <a:srgbClr val="EFF3FB"/>
          </a:solidFill>
          <a:ln w="12700">
            <a:solidFill>
              <a:srgbClr val="D3DDF2"/>
            </a:solidFill>
            <a:prstDash val="solid"/>
          </a:ln>
        </p:spPr>
      </p:sp>
      <p:sp>
        <p:nvSpPr>
          <p:cNvPr id="7" name="Text 5"/>
          <p:cNvSpPr/>
          <p:nvPr/>
        </p:nvSpPr>
        <p:spPr>
          <a:xfrm>
            <a:off x="886968" y="1563624"/>
            <a:ext cx="3118104" cy="384048"/>
          </a:xfrm>
          <a:prstGeom prst="rect">
            <a:avLst/>
          </a:prstGeom>
          <a:noFill/>
          <a:ln/>
        </p:spPr>
        <p:txBody>
          <a:bodyPr wrap="square" lIns="0" tIns="0" rIns="0" bIns="0"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Fabricated authority</a:t>
            </a:r>
            <a:endParaRPr lang="en-US" sz="1500" dirty="0"/>
          </a:p>
        </p:txBody>
      </p:sp>
      <p:sp>
        <p:nvSpPr>
          <p:cNvPr id="8" name="Text 6"/>
          <p:cNvSpPr/>
          <p:nvPr/>
        </p:nvSpPr>
        <p:spPr>
          <a:xfrm>
            <a:off x="886968" y="1965960"/>
            <a:ext cx="3118104" cy="1252728"/>
          </a:xfrm>
          <a:prstGeom prst="rect">
            <a:avLst/>
          </a:prstGeom>
          <a:noFill/>
          <a:ln/>
        </p:spPr>
        <p:txBody>
          <a:bodyPr wrap="square" lIns="0" tIns="0" rIns="0" bIns="0" rtlCol="0" anchor="t"/>
          <a:lstStyle/>
          <a:p>
            <a:pPr marL="0" indent="0">
              <a:lnSpc>
                <a:spcPts val="1700"/>
              </a:lnSpc>
              <a:buNone/>
            </a:pPr>
            <a:r>
              <a:rPr lang="en-US" sz="1250" dirty="0">
                <a:solidFill>
                  <a:srgbClr val="1E293B"/>
                </a:solidFill>
                <a:latin typeface="Calibri" pitchFamily="34" charset="0"/>
                <a:ea typeface="Calibri" pitchFamily="34" charset="-122"/>
                <a:cs typeface="Calibri" pitchFamily="34" charset="-120"/>
              </a:rPr>
              <a:t>Asked for the range of an unfamiliar assay, the model supplies a plausible interval rather than admitting it does not know.</a:t>
            </a:r>
            <a:endParaRPr lang="en-US" sz="1250" dirty="0"/>
          </a:p>
        </p:txBody>
      </p:sp>
      <p:sp>
        <p:nvSpPr>
          <p:cNvPr id="9" name="Shape 7"/>
          <p:cNvSpPr/>
          <p:nvPr/>
        </p:nvSpPr>
        <p:spPr>
          <a:xfrm>
            <a:off x="4343400" y="1417320"/>
            <a:ext cx="3520440" cy="1965960"/>
          </a:xfrm>
          <a:prstGeom prst="roundRect">
            <a:avLst>
              <a:gd name="adj" fmla="val 3721"/>
            </a:avLst>
          </a:prstGeom>
          <a:solidFill>
            <a:srgbClr val="EFF3FB"/>
          </a:solidFill>
          <a:ln w="12700">
            <a:solidFill>
              <a:srgbClr val="D3DDF2"/>
            </a:solidFill>
            <a:prstDash val="solid"/>
          </a:ln>
        </p:spPr>
      </p:sp>
      <p:sp>
        <p:nvSpPr>
          <p:cNvPr id="10" name="Text 8"/>
          <p:cNvSpPr/>
          <p:nvPr/>
        </p:nvSpPr>
        <p:spPr>
          <a:xfrm>
            <a:off x="4544568" y="1563624"/>
            <a:ext cx="3118104" cy="384048"/>
          </a:xfrm>
          <a:prstGeom prst="rect">
            <a:avLst/>
          </a:prstGeom>
          <a:noFill/>
          <a:ln/>
        </p:spPr>
        <p:txBody>
          <a:bodyPr wrap="square" lIns="0" tIns="0" rIns="0" bIns="0"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Single-shot answers</a:t>
            </a:r>
            <a:endParaRPr lang="en-US" sz="1500" dirty="0"/>
          </a:p>
        </p:txBody>
      </p:sp>
      <p:sp>
        <p:nvSpPr>
          <p:cNvPr id="11" name="Text 9"/>
          <p:cNvSpPr/>
          <p:nvPr/>
        </p:nvSpPr>
        <p:spPr>
          <a:xfrm>
            <a:off x="4544568" y="1965960"/>
            <a:ext cx="3118104" cy="1252728"/>
          </a:xfrm>
          <a:prstGeom prst="rect">
            <a:avLst/>
          </a:prstGeom>
          <a:noFill/>
          <a:ln/>
        </p:spPr>
        <p:txBody>
          <a:bodyPr wrap="square" lIns="0" tIns="0" rIns="0" bIns="0" rtlCol="0" anchor="t"/>
          <a:lstStyle/>
          <a:p>
            <a:pPr marL="0" indent="0">
              <a:lnSpc>
                <a:spcPts val="1700"/>
              </a:lnSpc>
              <a:buNone/>
            </a:pPr>
            <a:r>
              <a:rPr lang="en-US" sz="1250" dirty="0">
                <a:solidFill>
                  <a:srgbClr val="1E293B"/>
                </a:solidFill>
                <a:latin typeface="Calibri" pitchFamily="34" charset="0"/>
                <a:ea typeface="Calibri" pitchFamily="34" charset="-122"/>
                <a:cs typeface="Calibri" pitchFamily="34" charset="-120"/>
              </a:rPr>
              <a:t>A confident hallucination and a well-grounded inference are presented identically. The model carries no notion of its own reliability.</a:t>
            </a:r>
            <a:endParaRPr lang="en-US" sz="1250" dirty="0"/>
          </a:p>
        </p:txBody>
      </p:sp>
      <p:sp>
        <p:nvSpPr>
          <p:cNvPr id="12" name="Shape 10"/>
          <p:cNvSpPr/>
          <p:nvPr/>
        </p:nvSpPr>
        <p:spPr>
          <a:xfrm>
            <a:off x="8001000" y="1417320"/>
            <a:ext cx="3520440" cy="1965960"/>
          </a:xfrm>
          <a:prstGeom prst="roundRect">
            <a:avLst>
              <a:gd name="adj" fmla="val 3721"/>
            </a:avLst>
          </a:prstGeom>
          <a:solidFill>
            <a:srgbClr val="EFF3FB"/>
          </a:solidFill>
          <a:ln w="12700">
            <a:solidFill>
              <a:srgbClr val="D3DDF2"/>
            </a:solidFill>
            <a:prstDash val="solid"/>
          </a:ln>
        </p:spPr>
      </p:sp>
      <p:sp>
        <p:nvSpPr>
          <p:cNvPr id="13" name="Text 11"/>
          <p:cNvSpPr/>
          <p:nvPr/>
        </p:nvSpPr>
        <p:spPr>
          <a:xfrm>
            <a:off x="8202168" y="1563624"/>
            <a:ext cx="3118104" cy="384048"/>
          </a:xfrm>
          <a:prstGeom prst="rect">
            <a:avLst/>
          </a:prstGeom>
          <a:noFill/>
          <a:ln/>
        </p:spPr>
        <p:txBody>
          <a:bodyPr wrap="square" lIns="0" tIns="0" rIns="0" bIns="0"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No audit trail</a:t>
            </a:r>
            <a:endParaRPr lang="en-US" sz="1500" dirty="0"/>
          </a:p>
        </p:txBody>
      </p:sp>
      <p:sp>
        <p:nvSpPr>
          <p:cNvPr id="14" name="Text 12"/>
          <p:cNvSpPr/>
          <p:nvPr/>
        </p:nvSpPr>
        <p:spPr>
          <a:xfrm>
            <a:off x="8202168" y="1965960"/>
            <a:ext cx="3118104" cy="1252728"/>
          </a:xfrm>
          <a:prstGeom prst="rect">
            <a:avLst/>
          </a:prstGeom>
          <a:noFill/>
          <a:ln/>
        </p:spPr>
        <p:txBody>
          <a:bodyPr wrap="square" lIns="0" tIns="0" rIns="0" bIns="0" rtlCol="0" anchor="t"/>
          <a:lstStyle/>
          <a:p>
            <a:pPr marL="0" indent="0">
              <a:lnSpc>
                <a:spcPts val="1700"/>
              </a:lnSpc>
              <a:buNone/>
            </a:pPr>
            <a:r>
              <a:rPr lang="en-US" sz="1250" dirty="0">
                <a:solidFill>
                  <a:srgbClr val="1E293B"/>
                </a:solidFill>
                <a:latin typeface="Calibri" pitchFamily="34" charset="0"/>
                <a:ea typeface="Calibri" pitchFamily="34" charset="-122"/>
                <a:cs typeface="Calibri" pitchFamily="34" charset="-120"/>
              </a:rPr>
              <a:t>A clinician who disagrees with the output has no way to inspect the evidence that produced it.</a:t>
            </a:r>
            <a:endParaRPr lang="en-US" sz="1250" dirty="0"/>
          </a:p>
        </p:txBody>
      </p:sp>
      <p:sp>
        <p:nvSpPr>
          <p:cNvPr id="15" name="Text 13"/>
          <p:cNvSpPr/>
          <p:nvPr/>
        </p:nvSpPr>
        <p:spPr>
          <a:xfrm>
            <a:off x="685800" y="3657600"/>
            <a:ext cx="10789920" cy="2468880"/>
          </a:xfrm>
          <a:prstGeom prst="rect">
            <a:avLst/>
          </a:prstGeom>
          <a:noFill/>
          <a:ln/>
        </p:spPr>
        <p:txBody>
          <a:bodyPr wrap="square" lIns="0" tIns="0" rIns="0" bIns="0" rtlCol="0" anchor="t"/>
          <a:lstStyle/>
          <a:p>
            <a:pPr marL="228600" indent="-228600">
              <a:lnSpc>
                <a:spcPts val="2025"/>
              </a:lnSpc>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RAG addresses the first failure and is now standard — but not the other two</a:t>
            </a:r>
            <a:endParaRPr lang="en-US" sz="1500" dirty="0"/>
          </a:p>
          <a:p>
            <a:pPr marL="228600" indent="-228600">
              <a:lnSpc>
                <a:spcPts val="2025"/>
              </a:lnSpc>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One-shot pre-generation retrieval is a poor fit for a lab report: the useful queries are the marker names, unknown until extraction has run</a:t>
            </a:r>
            <a:endParaRPr lang="en-US" sz="1500" dirty="0"/>
          </a:p>
        </p:txBody>
      </p:sp>
      <p:sp>
        <p:nvSpPr>
          <p:cNvPr id="16" name="Shape 14"/>
          <p:cNvSpPr/>
          <p:nvPr/>
        </p:nvSpPr>
        <p:spPr>
          <a:xfrm>
            <a:off x="685800" y="4572000"/>
            <a:ext cx="10789920" cy="658368"/>
          </a:xfrm>
          <a:prstGeom prst="roundRect">
            <a:avLst>
              <a:gd name="adj" fmla="val 8333"/>
            </a:avLst>
          </a:prstGeom>
          <a:solidFill>
            <a:srgbClr val="EFF3FB"/>
          </a:solidFill>
          <a:ln w="12700">
            <a:solidFill>
              <a:srgbClr val="D3DDF2"/>
            </a:solidFill>
            <a:prstDash val="solid"/>
          </a:ln>
        </p:spPr>
      </p:sp>
      <p:sp>
        <p:nvSpPr>
          <p:cNvPr id="17" name="Text 15"/>
          <p:cNvSpPr/>
          <p:nvPr/>
        </p:nvSpPr>
        <p:spPr>
          <a:xfrm>
            <a:off x="914400" y="4626864"/>
            <a:ext cx="10332720" cy="548640"/>
          </a:xfrm>
          <a:prstGeom prst="rect">
            <a:avLst/>
          </a:prstGeom>
          <a:noFill/>
          <a:ln/>
        </p:spPr>
        <p:txBody>
          <a:bodyPr wrap="square" lIns="0" tIns="0" rIns="0" bIns="0"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The missing ingredient is process — clinical reasoning as an explicit graph, not one large prompt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Novel Features</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What distinguishes this from prior agentic clinical work</a:t>
            </a:r>
            <a:endParaRPr lang="en-US" sz="1400" dirty="0"/>
          </a:p>
        </p:txBody>
      </p:sp>
      <p:sp>
        <p:nvSpPr>
          <p:cNvPr id="6" name="Shape 4"/>
          <p:cNvSpPr/>
          <p:nvPr/>
        </p:nvSpPr>
        <p:spPr>
          <a:xfrm>
            <a:off x="685800" y="1417320"/>
            <a:ext cx="3520440" cy="1810512"/>
          </a:xfrm>
          <a:prstGeom prst="roundRect">
            <a:avLst>
              <a:gd name="adj" fmla="val 4040"/>
            </a:avLst>
          </a:prstGeom>
          <a:solidFill>
            <a:srgbClr val="EFF3FB"/>
          </a:solidFill>
          <a:ln w="12700">
            <a:solidFill>
              <a:srgbClr val="D3DDF2"/>
            </a:solidFill>
            <a:prstDash val="solid"/>
          </a:ln>
        </p:spPr>
      </p:sp>
      <p:sp>
        <p:nvSpPr>
          <p:cNvPr id="7" name="Text 5"/>
          <p:cNvSpPr/>
          <p:nvPr/>
        </p:nvSpPr>
        <p:spPr>
          <a:xfrm>
            <a:off x="886968" y="1563624"/>
            <a:ext cx="3118104" cy="384048"/>
          </a:xfrm>
          <a:prstGeom prst="rect">
            <a:avLst/>
          </a:prstGeom>
          <a:noFill/>
          <a:ln/>
        </p:spPr>
        <p:txBody>
          <a:bodyPr wrap="square" lIns="0" tIns="0" rIns="0" bIns="0"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Dual-agent, divergent knowledge bases</a:t>
            </a:r>
            <a:endParaRPr lang="en-US" sz="1400" dirty="0"/>
          </a:p>
        </p:txBody>
      </p:sp>
      <p:sp>
        <p:nvSpPr>
          <p:cNvPr id="8" name="Text 6"/>
          <p:cNvSpPr/>
          <p:nvPr/>
        </p:nvSpPr>
        <p:spPr>
          <a:xfrm>
            <a:off x="886968" y="1965960"/>
            <a:ext cx="3118104" cy="1097280"/>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a:ea typeface="Calibri"/>
                <a:cs typeface="Calibri"/>
              </a:rPr>
              <a:t>Diagnosis and treatment are separate compiled </a:t>
            </a:r>
            <a:r>
              <a:rPr lang="en-US" sz="1200">
                <a:solidFill>
                  <a:srgbClr val="1E293B"/>
                </a:solidFill>
                <a:latin typeface="Calibri"/>
                <a:ea typeface="Calibri"/>
                <a:cs typeface="Calibri"/>
              </a:rPr>
              <a:t>state machines over separate vector indices </a:t>
            </a:r>
            <a:r>
              <a:rPr lang="en-US" sz="1200" dirty="0">
                <a:solidFill>
                  <a:srgbClr val="1E293B"/>
                </a:solidFill>
                <a:latin typeface="Calibri"/>
                <a:ea typeface="Calibri"/>
                <a:cs typeface="Calibri"/>
              </a:rPr>
              <a:t>neither can contaminate the other's evidence.</a:t>
            </a:r>
            <a:endParaRPr lang="en-US" sz="1200" dirty="0">
              <a:latin typeface="Calibri"/>
              <a:ea typeface="Calibri"/>
              <a:cs typeface="Calibri"/>
            </a:endParaRPr>
          </a:p>
        </p:txBody>
      </p:sp>
      <p:sp>
        <p:nvSpPr>
          <p:cNvPr id="9" name="Shape 7"/>
          <p:cNvSpPr/>
          <p:nvPr/>
        </p:nvSpPr>
        <p:spPr>
          <a:xfrm>
            <a:off x="4343400" y="1417320"/>
            <a:ext cx="3520440" cy="1810512"/>
          </a:xfrm>
          <a:prstGeom prst="roundRect">
            <a:avLst>
              <a:gd name="adj" fmla="val 4040"/>
            </a:avLst>
          </a:prstGeom>
          <a:solidFill>
            <a:srgbClr val="EFF3FB"/>
          </a:solidFill>
          <a:ln w="12700">
            <a:solidFill>
              <a:srgbClr val="D3DDF2"/>
            </a:solidFill>
            <a:prstDash val="solid"/>
          </a:ln>
        </p:spPr>
      </p:sp>
      <p:sp>
        <p:nvSpPr>
          <p:cNvPr id="10" name="Text 8"/>
          <p:cNvSpPr/>
          <p:nvPr/>
        </p:nvSpPr>
        <p:spPr>
          <a:xfrm>
            <a:off x="4544568" y="1563624"/>
            <a:ext cx="3118104" cy="384048"/>
          </a:xfrm>
          <a:prstGeom prst="rect">
            <a:avLst/>
          </a:prstGeom>
          <a:noFill/>
          <a:ln/>
        </p:spPr>
        <p:txBody>
          <a:bodyPr wrap="square" lIns="0" tIns="0" rIns="0" bIns="0"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Bounded self-correction loop</a:t>
            </a:r>
            <a:endParaRPr lang="en-US" sz="1400" dirty="0"/>
          </a:p>
        </p:txBody>
      </p:sp>
      <p:sp>
        <p:nvSpPr>
          <p:cNvPr id="11" name="Text 9"/>
          <p:cNvSpPr/>
          <p:nvPr/>
        </p:nvSpPr>
        <p:spPr>
          <a:xfrm>
            <a:off x="4544568" y="1965960"/>
            <a:ext cx="3118104" cy="1097280"/>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pitchFamily="34" charset="0"/>
                <a:ea typeface="Calibri" pitchFamily="34" charset="-122"/>
                <a:cs typeface="Calibri" pitchFamily="34" charset="-120"/>
              </a:rPr>
              <a:t>Low-confidence diagnoses return to the analysis node with the auditor's written criticism attached, capped at three passes.</a:t>
            </a:r>
            <a:endParaRPr lang="en-US" sz="1200" dirty="0"/>
          </a:p>
        </p:txBody>
      </p:sp>
      <p:sp>
        <p:nvSpPr>
          <p:cNvPr id="12" name="Shape 10"/>
          <p:cNvSpPr/>
          <p:nvPr/>
        </p:nvSpPr>
        <p:spPr>
          <a:xfrm>
            <a:off x="8001000" y="1417320"/>
            <a:ext cx="3520440" cy="1810512"/>
          </a:xfrm>
          <a:prstGeom prst="roundRect">
            <a:avLst>
              <a:gd name="adj" fmla="val 4040"/>
            </a:avLst>
          </a:prstGeom>
          <a:solidFill>
            <a:srgbClr val="EFF3FB"/>
          </a:solidFill>
          <a:ln w="12700">
            <a:solidFill>
              <a:srgbClr val="D3DDF2"/>
            </a:solidFill>
            <a:prstDash val="solid"/>
          </a:ln>
        </p:spPr>
      </p:sp>
      <p:sp>
        <p:nvSpPr>
          <p:cNvPr id="13" name="Text 11"/>
          <p:cNvSpPr/>
          <p:nvPr/>
        </p:nvSpPr>
        <p:spPr>
          <a:xfrm>
            <a:off x="8202168" y="1563624"/>
            <a:ext cx="3118104" cy="384048"/>
          </a:xfrm>
          <a:prstGeom prst="rect">
            <a:avLst/>
          </a:prstGeom>
          <a:noFill/>
          <a:ln/>
        </p:spPr>
        <p:txBody>
          <a:bodyPr wrap="square" lIns="0" tIns="0" rIns="0" bIns="0"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Constraint before plan</a:t>
            </a:r>
            <a:endParaRPr lang="en-US" sz="1400" dirty="0"/>
          </a:p>
        </p:txBody>
      </p:sp>
      <p:sp>
        <p:nvSpPr>
          <p:cNvPr id="14" name="Text 12"/>
          <p:cNvSpPr/>
          <p:nvPr/>
        </p:nvSpPr>
        <p:spPr>
          <a:xfrm>
            <a:off x="8202168" y="1965960"/>
            <a:ext cx="3118104" cy="1097280"/>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pitchFamily="34" charset="0"/>
                <a:ea typeface="Calibri" pitchFamily="34" charset="-122"/>
                <a:cs typeface="Calibri" pitchFamily="34" charset="-120"/>
              </a:rPr>
              <a:t>Contraindications are derived before any plan exists, so the planner is structurally unable to propose a contraindicated step.</a:t>
            </a:r>
            <a:endParaRPr lang="en-US" sz="1200" dirty="0"/>
          </a:p>
        </p:txBody>
      </p:sp>
      <p:sp>
        <p:nvSpPr>
          <p:cNvPr id="15" name="Shape 13"/>
          <p:cNvSpPr/>
          <p:nvPr/>
        </p:nvSpPr>
        <p:spPr>
          <a:xfrm>
            <a:off x="685800" y="3383280"/>
            <a:ext cx="3520440" cy="1810512"/>
          </a:xfrm>
          <a:prstGeom prst="roundRect">
            <a:avLst>
              <a:gd name="adj" fmla="val 4040"/>
            </a:avLst>
          </a:prstGeom>
          <a:solidFill>
            <a:srgbClr val="EFF3FB"/>
          </a:solidFill>
          <a:ln w="12700">
            <a:solidFill>
              <a:srgbClr val="D3DDF2"/>
            </a:solidFill>
            <a:prstDash val="solid"/>
          </a:ln>
        </p:spPr>
      </p:sp>
      <p:sp>
        <p:nvSpPr>
          <p:cNvPr id="16" name="Text 14"/>
          <p:cNvSpPr/>
          <p:nvPr/>
        </p:nvSpPr>
        <p:spPr>
          <a:xfrm>
            <a:off x="886968" y="3529584"/>
            <a:ext cx="3118104" cy="384048"/>
          </a:xfrm>
          <a:prstGeom prst="rect">
            <a:avLst/>
          </a:prstGeom>
          <a:noFill/>
          <a:ln/>
        </p:spPr>
        <p:txBody>
          <a:bodyPr wrap="square" lIns="0" tIns="0" rIns="0" bIns="0"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Pipeline-level Meta-Evaluator</a:t>
            </a:r>
            <a:endParaRPr lang="en-US" sz="1400" dirty="0"/>
          </a:p>
        </p:txBody>
      </p:sp>
      <p:sp>
        <p:nvSpPr>
          <p:cNvPr id="17" name="Text 15"/>
          <p:cNvSpPr/>
          <p:nvPr/>
        </p:nvSpPr>
        <p:spPr>
          <a:xfrm>
            <a:off x="886968" y="3931920"/>
            <a:ext cx="3118104" cy="1097280"/>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pitchFamily="34" charset="0"/>
                <a:ea typeface="Calibri" pitchFamily="34" charset="-122"/>
                <a:cs typeface="Calibri" pitchFamily="34" charset="-120"/>
              </a:rPr>
              <a:t>A third call cross-validates the plan against the diagnosis and emits a quality score, safety verdict and explicit flags.</a:t>
            </a:r>
            <a:endParaRPr lang="en-US" sz="1200" dirty="0"/>
          </a:p>
        </p:txBody>
      </p:sp>
      <p:sp>
        <p:nvSpPr>
          <p:cNvPr id="18" name="Shape 16"/>
          <p:cNvSpPr/>
          <p:nvPr/>
        </p:nvSpPr>
        <p:spPr>
          <a:xfrm>
            <a:off x="4343400" y="3383280"/>
            <a:ext cx="3520440" cy="1810512"/>
          </a:xfrm>
          <a:prstGeom prst="roundRect">
            <a:avLst>
              <a:gd name="adj" fmla="val 4040"/>
            </a:avLst>
          </a:prstGeom>
          <a:solidFill>
            <a:srgbClr val="EFF3FB"/>
          </a:solidFill>
          <a:ln w="12700">
            <a:solidFill>
              <a:srgbClr val="D3DDF2"/>
            </a:solidFill>
            <a:prstDash val="solid"/>
          </a:ln>
        </p:spPr>
      </p:sp>
      <p:sp>
        <p:nvSpPr>
          <p:cNvPr id="19" name="Text 17"/>
          <p:cNvSpPr/>
          <p:nvPr/>
        </p:nvSpPr>
        <p:spPr>
          <a:xfrm>
            <a:off x="4544568" y="3529584"/>
            <a:ext cx="3118104" cy="384048"/>
          </a:xfrm>
          <a:prstGeom prst="rect">
            <a:avLst/>
          </a:prstGeom>
          <a:noFill/>
          <a:ln/>
        </p:spPr>
        <p:txBody>
          <a:bodyPr wrap="square" lIns="0" tIns="0" rIns="0" bIns="0"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Guardrails in code, not in the prompt</a:t>
            </a:r>
            <a:endParaRPr lang="en-US" sz="1400" dirty="0"/>
          </a:p>
        </p:txBody>
      </p:sp>
      <p:sp>
        <p:nvSpPr>
          <p:cNvPr id="20" name="Text 18"/>
          <p:cNvSpPr/>
          <p:nvPr/>
        </p:nvSpPr>
        <p:spPr>
          <a:xfrm>
            <a:off x="4544568" y="3931920"/>
            <a:ext cx="3118104" cy="1097280"/>
          </a:xfrm>
          <a:prstGeom prst="rect">
            <a:avLst/>
          </a:prstGeom>
          <a:noFill/>
          <a:ln/>
        </p:spPr>
        <p:txBody>
          <a:bodyPr wrap="square" lIns="0" tIns="0" rIns="0" bIns="0" rtlCol="0" anchor="t"/>
          <a:lstStyle/>
          <a:p>
            <a:pPr>
              <a:lnSpc>
                <a:spcPts val="1700"/>
              </a:lnSpc>
            </a:pPr>
            <a:r>
              <a:rPr lang="en-US" sz="1200" dirty="0">
                <a:solidFill>
                  <a:srgbClr val="1E293B"/>
                </a:solidFill>
                <a:latin typeface="Calibri"/>
                <a:ea typeface="Calibri"/>
                <a:cs typeface="Calibri"/>
              </a:rPr>
              <a:t>Seven orchestrator tools with hard preconditions, it cannot </a:t>
            </a:r>
            <a:r>
              <a:rPr lang="en-US" sz="1200" dirty="0" err="1">
                <a:solidFill>
                  <a:srgbClr val="1E293B"/>
                </a:solidFill>
                <a:latin typeface="Calibri"/>
                <a:ea typeface="Calibri"/>
                <a:cs typeface="Calibri"/>
              </a:rPr>
              <a:t>analyse</a:t>
            </a:r>
            <a:r>
              <a:rPr lang="en-US" sz="1200" dirty="0">
                <a:solidFill>
                  <a:srgbClr val="1E293B"/>
                </a:solidFill>
                <a:latin typeface="Calibri"/>
                <a:ea typeface="Calibri"/>
                <a:cs typeface="Calibri"/>
              </a:rPr>
              <a:t> a report the patient did not upload.</a:t>
            </a:r>
            <a:endParaRPr lang="en-US" sz="1200" dirty="0">
              <a:latin typeface="Calibri"/>
              <a:ea typeface="Calibri"/>
              <a:cs typeface="Calibri"/>
            </a:endParaRPr>
          </a:p>
        </p:txBody>
      </p:sp>
      <p:sp>
        <p:nvSpPr>
          <p:cNvPr id="21" name="Shape 19"/>
          <p:cNvSpPr/>
          <p:nvPr/>
        </p:nvSpPr>
        <p:spPr>
          <a:xfrm>
            <a:off x="8001000" y="3383280"/>
            <a:ext cx="3520440" cy="1810512"/>
          </a:xfrm>
          <a:prstGeom prst="roundRect">
            <a:avLst>
              <a:gd name="adj" fmla="val 4040"/>
            </a:avLst>
          </a:prstGeom>
          <a:solidFill>
            <a:srgbClr val="EFF3FB"/>
          </a:solidFill>
          <a:ln w="12700">
            <a:solidFill>
              <a:srgbClr val="D3DDF2"/>
            </a:solidFill>
            <a:prstDash val="solid"/>
          </a:ln>
        </p:spPr>
      </p:sp>
      <p:sp>
        <p:nvSpPr>
          <p:cNvPr id="22" name="Text 20"/>
          <p:cNvSpPr/>
          <p:nvPr/>
        </p:nvSpPr>
        <p:spPr>
          <a:xfrm>
            <a:off x="8202168" y="3529584"/>
            <a:ext cx="3118104" cy="384048"/>
          </a:xfrm>
          <a:prstGeom prst="rect">
            <a:avLst/>
          </a:prstGeom>
          <a:noFill/>
          <a:ln/>
        </p:spPr>
        <p:txBody>
          <a:bodyPr wrap="square" lIns="0" tIns="0" rIns="0" bIns="0"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Deployed end to end</a:t>
            </a:r>
            <a:endParaRPr lang="en-US" sz="1400" dirty="0"/>
          </a:p>
        </p:txBody>
      </p:sp>
      <p:sp>
        <p:nvSpPr>
          <p:cNvPr id="23" name="Text 21"/>
          <p:cNvSpPr/>
          <p:nvPr/>
        </p:nvSpPr>
        <p:spPr>
          <a:xfrm>
            <a:off x="8202168" y="3931920"/>
            <a:ext cx="3118104" cy="1097280"/>
          </a:xfrm>
          <a:prstGeom prst="rect">
            <a:avLst/>
          </a:prstGeom>
          <a:noFill/>
          <a:ln/>
        </p:spPr>
        <p:txBody>
          <a:bodyPr wrap="square" lIns="0" tIns="0" rIns="0" bIns="0" rtlCol="0" anchor="t"/>
          <a:lstStyle/>
          <a:p>
            <a:pPr>
              <a:lnSpc>
                <a:spcPts val="1700"/>
              </a:lnSpc>
            </a:pPr>
            <a:r>
              <a:rPr lang="en-US" sz="1200" dirty="0">
                <a:solidFill>
                  <a:srgbClr val="1E293B"/>
                </a:solidFill>
                <a:latin typeface="Calibri"/>
                <a:ea typeface="Calibri"/>
                <a:cs typeface="Calibri"/>
              </a:rPr>
              <a:t>A working web application drives the full journey </a:t>
            </a:r>
            <a:r>
              <a:rPr lang="en-US" sz="1200">
                <a:solidFill>
                  <a:srgbClr val="1E293B"/>
                </a:solidFill>
                <a:latin typeface="Calibri"/>
                <a:ea typeface="Calibri"/>
                <a:cs typeface="Calibri"/>
              </a:rPr>
              <a:t>through an explicit nine state session machine.</a:t>
            </a:r>
            <a:endParaRPr lang="en-US" sz="1200">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1051560" y="2286000"/>
            <a:ext cx="1828800" cy="1005840"/>
          </a:xfrm>
          <a:prstGeom prst="rect">
            <a:avLst/>
          </a:prstGeom>
          <a:noFill/>
          <a:ln/>
        </p:spPr>
        <p:txBody>
          <a:bodyPr wrap="square" lIns="0" tIns="0" rIns="0" bIns="0" rtlCol="0" anchor="ctr"/>
          <a:lstStyle/>
          <a:p>
            <a:pPr marL="0" indent="0">
              <a:buNone/>
            </a:pPr>
            <a:r>
              <a:rPr lang="en-US" sz="6400" b="1" dirty="0">
                <a:solidFill>
                  <a:srgbClr val="3B5578"/>
                </a:solidFill>
                <a:latin typeface="Cambria" pitchFamily="34" charset="0"/>
                <a:ea typeface="Cambria" pitchFamily="34" charset="-122"/>
                <a:cs typeface="Cambria" pitchFamily="34" charset="-120"/>
              </a:rPr>
              <a:t>01</a:t>
            </a:r>
            <a:endParaRPr lang="en-US" sz="6400" dirty="0"/>
          </a:p>
        </p:txBody>
      </p:sp>
      <p:sp>
        <p:nvSpPr>
          <p:cNvPr id="3" name="Text 1"/>
          <p:cNvSpPr/>
          <p:nvPr/>
        </p:nvSpPr>
        <p:spPr>
          <a:xfrm>
            <a:off x="2788920" y="2395728"/>
            <a:ext cx="841248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Related Work and Research Gap</a:t>
            </a:r>
            <a:endParaRPr lang="en-US" sz="3600" dirty="0"/>
          </a:p>
        </p:txBody>
      </p:sp>
      <p:sp>
        <p:nvSpPr>
          <p:cNvPr id="4" name="Text 2"/>
          <p:cNvSpPr/>
          <p:nvPr/>
        </p:nvSpPr>
        <p:spPr>
          <a:xfrm>
            <a:off x="2834640" y="3200400"/>
            <a:ext cx="8412480" cy="548640"/>
          </a:xfrm>
          <a:prstGeom prst="rect">
            <a:avLst/>
          </a:prstGeom>
          <a:noFill/>
          <a:ln/>
        </p:spPr>
        <p:txBody>
          <a:bodyPr wrap="square" lIns="0" tIns="0" rIns="0" bIns="0" rtlCol="0" anchor="ctr"/>
          <a:lstStyle/>
          <a:p>
            <a:pPr marL="0" indent="0">
              <a:buNone/>
            </a:pPr>
            <a:r>
              <a:rPr lang="en-US" sz="1600" i="1" dirty="0">
                <a:solidFill>
                  <a:srgbClr val="A9BAD4"/>
                </a:solidFill>
                <a:latin typeface="Calibri" pitchFamily="34" charset="0"/>
                <a:ea typeface="Calibri" pitchFamily="34" charset="-122"/>
                <a:cs typeface="Calibri" pitchFamily="34" charset="-120"/>
              </a:rPr>
              <a:t>Four strands contribute a component — none is sufficient alone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Related Work</a:t>
            </a:r>
            <a:endParaRPr lang="en-US" sz="3000" dirty="0"/>
          </a:p>
        </p:txBody>
      </p:sp>
      <p:sp>
        <p:nvSpPr>
          <p:cNvPr id="5" name="Text 3"/>
          <p:cNvSpPr/>
          <p:nvPr/>
        </p:nvSpPr>
        <p:spPr>
          <a:xfrm>
            <a:off x="685799" y="1102087"/>
            <a:ext cx="10595585" cy="4359561"/>
          </a:xfrm>
          <a:prstGeom prst="rect">
            <a:avLst/>
          </a:prstGeom>
          <a:noFill/>
          <a:ln/>
        </p:spPr>
        <p:txBody>
          <a:bodyPr wrap="square" lIns="0" tIns="0" rIns="0" bIns="0" rtlCol="0" anchor="ctr"/>
          <a:lstStyle/>
          <a:p>
            <a:pPr marL="228600" indent="-228600">
              <a:lnSpc>
                <a:spcPts val="2093"/>
              </a:lnSpc>
              <a:spcAft>
                <a:spcPts val="900"/>
              </a:spcAft>
              <a:buSzPct val="100000"/>
              <a:buChar char="•"/>
            </a:pPr>
            <a:r>
              <a:rPr lang="en-US" sz="1550" b="1" dirty="0">
                <a:solidFill>
                  <a:srgbClr val="1E293B"/>
                </a:solidFill>
                <a:latin typeface="Calibri"/>
                <a:ea typeface="Calibri"/>
                <a:cs typeface="Calibri"/>
              </a:rPr>
              <a:t>Medical LLMs — Med42-v2, LLaMA-3 </a:t>
            </a:r>
            <a:r>
              <a:rPr lang="en-US" sz="1550" b="1" dirty="0" err="1">
                <a:solidFill>
                  <a:srgbClr val="1E293B"/>
                </a:solidFill>
                <a:latin typeface="Calibri"/>
                <a:ea typeface="Calibri"/>
                <a:cs typeface="Calibri"/>
              </a:rPr>
              <a:t>Meditron</a:t>
            </a:r>
            <a:r>
              <a:rPr lang="en-US" sz="1550" b="1" dirty="0">
                <a:solidFill>
                  <a:srgbClr val="1E293B"/>
                </a:solidFill>
                <a:latin typeface="Calibri"/>
                <a:ea typeface="Calibri"/>
                <a:cs typeface="Calibri"/>
              </a:rPr>
              <a:t>, </a:t>
            </a:r>
            <a:r>
              <a:rPr lang="en-US" sz="1550" b="1" dirty="0" err="1">
                <a:solidFill>
                  <a:srgbClr val="1E293B"/>
                </a:solidFill>
                <a:latin typeface="Calibri"/>
                <a:ea typeface="Calibri"/>
                <a:cs typeface="Calibri"/>
              </a:rPr>
              <a:t>AutoMedPrompt</a:t>
            </a:r>
            <a:endParaRPr lang="en-US" sz="1550" dirty="0" err="1">
              <a:latin typeface="Calibri"/>
              <a:ea typeface="Calibri"/>
              <a:cs typeface="Calibri"/>
            </a:endParaRPr>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Improve the quality of a single answer without changing the shape of the interaction; we treat the base model as an implementation detail</a:t>
            </a:r>
            <a:endParaRPr lang="en-US" sz="1550" dirty="0"/>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Reasoning methods — chain-of-thought, chain-of-draft, reflection</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Reflective critique depends on the reliability of the scorer; we use a dedicated auditor whose numeric output drives control flow</a:t>
            </a:r>
            <a:endParaRPr lang="en-US" sz="1550" dirty="0"/>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Clinical RAG</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Retrieval does not guarantee comprehension — a model can quote a correct source and misread it</a:t>
            </a:r>
            <a:endParaRPr lang="en-US" sz="1550" dirty="0"/>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Agentic decision support — the CARE framework</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Closest antecedent; terminates at the diagnosis, leaving the consequential half of the problem outside the system</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Research Gap</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38854718"/>
              </p:ext>
            </p:extLst>
          </p:nvPr>
        </p:nvGraphicFramePr>
        <p:xfrm>
          <a:off x="685800" y="1188720"/>
          <a:ext cx="10789920" cy="2743200"/>
        </p:xfrm>
        <a:graphic>
          <a:graphicData uri="http://schemas.openxmlformats.org/drawingml/2006/table">
            <a:tbl>
              <a:tblPr/>
              <a:tblGrid>
                <a:gridCol w="3931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Grounded retrieval</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Self-auditing</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Treatment planning</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Deployed interface</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General-purpose LLM prompting</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partial</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Domain-tuned medical LLMs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partial</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50" dirty="0">
                          <a:solidFill>
                            <a:srgbClr val="1E293B"/>
                          </a:solidFill>
                          <a:latin typeface="Calibri"/>
                          <a:ea typeface="Calibri"/>
                          <a:cs typeface="Calibri"/>
                        </a:rPr>
                        <a:t>Prompt </a:t>
                      </a:r>
                      <a:r>
                        <a:rPr lang="en-US" sz="1250">
                          <a:solidFill>
                            <a:srgbClr val="1E293B"/>
                          </a:solidFill>
                          <a:latin typeface="Calibri"/>
                          <a:ea typeface="Calibri"/>
                          <a:cs typeface="Calibri"/>
                        </a:rPr>
                        <a:t>optimisation (AutoMedPrompt)</a:t>
                      </a:r>
                      <a:endParaRPr lang="en-US" sz="1250">
                        <a:latin typeface="Calibri"/>
                        <a:ea typeface="Calibri"/>
                        <a:cs typeface="Calibri"/>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Single-shot clinical RAG</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partial</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Reflective / self-critique methods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partial</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CARE (agentic diagnostic reasoning)</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50" b="1" dirty="0">
                          <a:solidFill>
                            <a:srgbClr val="1E293B"/>
                          </a:solidFill>
                          <a:latin typeface="Calibri" pitchFamily="34" charset="0"/>
                          <a:ea typeface="Calibri" pitchFamily="34" charset="-122"/>
                          <a:cs typeface="Calibri" pitchFamily="34" charset="-120"/>
                        </a:rPr>
                        <a:t>ACDSS (this work)</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FF3FB"/>
                    </a:solidFill>
                  </a:tcPr>
                </a:tc>
                <a:tc>
                  <a:txBody>
                    <a:bodyPr/>
                    <a:lstStyle/>
                    <a:p>
                      <a:pPr marL="0" indent="0">
                        <a:buNone/>
                      </a:pPr>
                      <a:r>
                        <a:rPr lang="en-US" sz="1250" b="1"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FF3FB"/>
                    </a:solidFill>
                  </a:tcPr>
                </a:tc>
                <a:tc>
                  <a:txBody>
                    <a:bodyPr/>
                    <a:lstStyle/>
                    <a:p>
                      <a:pPr marL="0" indent="0">
                        <a:buNone/>
                      </a:pPr>
                      <a:r>
                        <a:rPr lang="en-US" sz="1250" b="1"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FF3FB"/>
                    </a:solidFill>
                  </a:tcPr>
                </a:tc>
                <a:tc>
                  <a:txBody>
                    <a:bodyPr/>
                    <a:lstStyle/>
                    <a:p>
                      <a:pPr marL="0" indent="0">
                        <a:buNone/>
                      </a:pPr>
                      <a:r>
                        <a:rPr lang="en-US" sz="1250" b="1"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FF3FB"/>
                    </a:solidFill>
                  </a:tcPr>
                </a:tc>
                <a:tc>
                  <a:txBody>
                    <a:bodyPr/>
                    <a:lstStyle/>
                    <a:p>
                      <a:pPr marL="0" indent="0">
                        <a:buNone/>
                      </a:pPr>
                      <a:r>
                        <a:rPr lang="en-US" sz="1250" b="1" dirty="0">
                          <a:solidFill>
                            <a:srgbClr val="1E293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FF3FB"/>
                    </a:solidFill>
                  </a:tcPr>
                </a:tc>
                <a:extLst>
                  <a:ext uri="{0D108BD9-81ED-4DB2-BD59-A6C34878D82A}">
                    <a16:rowId xmlns:a16="http://schemas.microsoft.com/office/drawing/2014/main" val="10007"/>
                  </a:ext>
                </a:extLst>
              </a:tr>
            </a:tbl>
          </a:graphicData>
        </a:graphic>
      </p:graphicFrame>
      <p:sp>
        <p:nvSpPr>
          <p:cNvPr id="6" name="Text 3"/>
          <p:cNvSpPr/>
          <p:nvPr/>
        </p:nvSpPr>
        <p:spPr>
          <a:xfrm>
            <a:off x="685800" y="4114800"/>
            <a:ext cx="10789920" cy="2011680"/>
          </a:xfrm>
          <a:prstGeom prst="rect">
            <a:avLst/>
          </a:prstGeom>
          <a:noFill/>
          <a:ln/>
        </p:spPr>
        <p:txBody>
          <a:bodyPr wrap="square" lIns="0" tIns="0" rIns="0" bIns="0" rtlCol="0" anchor="t"/>
          <a:lstStyle/>
          <a:p>
            <a:pPr marL="228600" indent="-228600">
              <a:lnSpc>
                <a:spcPts val="1890"/>
              </a:lnSpc>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Diagnosis without action — agentic reasoning stops at the label</a:t>
            </a:r>
            <a:endParaRPr lang="en-US" sz="1400" dirty="0"/>
          </a:p>
          <a:p>
            <a:pPr marL="228600" indent="-228600">
              <a:lnSpc>
                <a:spcPts val="1890"/>
              </a:lnSpc>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Shared, undifferentiated evidence — one index cannot separate reference-range from management evidence</a:t>
            </a:r>
            <a:endParaRPr lang="en-US" sz="1400" dirty="0"/>
          </a:p>
          <a:p>
            <a:pPr marL="228600" indent="-228600">
              <a:lnSpc>
                <a:spcPts val="1890"/>
              </a:lnSpc>
              <a:spcAft>
                <a:spcPts val="900"/>
              </a:spcAft>
              <a:buSzPct val="100000"/>
              <a:buChar char="•"/>
            </a:pPr>
            <a:r>
              <a:rPr lang="en-US" sz="1400" b="1" dirty="0">
                <a:solidFill>
                  <a:srgbClr val="1E293B"/>
                </a:solidFill>
                <a:latin typeface="Calibri" pitchFamily="34" charset="0"/>
                <a:ea typeface="Calibri" pitchFamily="34" charset="-122"/>
                <a:cs typeface="Calibri" pitchFamily="34" charset="-120"/>
              </a:rPr>
              <a:t>No cross-validation — nothing checks that the plan is consistent with the diagnosis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1051560" y="2286000"/>
            <a:ext cx="1828800" cy="1005840"/>
          </a:xfrm>
          <a:prstGeom prst="rect">
            <a:avLst/>
          </a:prstGeom>
          <a:noFill/>
          <a:ln/>
        </p:spPr>
        <p:txBody>
          <a:bodyPr wrap="square" lIns="0" tIns="0" rIns="0" bIns="0" rtlCol="0" anchor="ctr"/>
          <a:lstStyle/>
          <a:p>
            <a:pPr marL="0" indent="0">
              <a:buNone/>
            </a:pPr>
            <a:r>
              <a:rPr lang="en-US" sz="6400" b="1" dirty="0">
                <a:solidFill>
                  <a:srgbClr val="3B5578"/>
                </a:solidFill>
                <a:latin typeface="Cambria" pitchFamily="34" charset="0"/>
                <a:ea typeface="Cambria" pitchFamily="34" charset="-122"/>
                <a:cs typeface="Cambria" pitchFamily="34" charset="-120"/>
              </a:rPr>
              <a:t>02</a:t>
            </a:r>
            <a:endParaRPr lang="en-US" sz="6400" dirty="0"/>
          </a:p>
        </p:txBody>
      </p:sp>
      <p:sp>
        <p:nvSpPr>
          <p:cNvPr id="3" name="Text 1"/>
          <p:cNvSpPr/>
          <p:nvPr/>
        </p:nvSpPr>
        <p:spPr>
          <a:xfrm>
            <a:off x="2788920" y="2395728"/>
            <a:ext cx="841248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Proposed Methodology</a:t>
            </a:r>
            <a:endParaRPr lang="en-US" sz="3600" dirty="0"/>
          </a:p>
        </p:txBody>
      </p:sp>
      <p:sp>
        <p:nvSpPr>
          <p:cNvPr id="4" name="Text 2"/>
          <p:cNvSpPr/>
          <p:nvPr/>
        </p:nvSpPr>
        <p:spPr>
          <a:xfrm>
            <a:off x="2834640" y="3200400"/>
            <a:ext cx="8412480" cy="548640"/>
          </a:xfrm>
          <a:prstGeom prst="rect">
            <a:avLst/>
          </a:prstGeom>
          <a:noFill/>
          <a:ln/>
        </p:spPr>
        <p:txBody>
          <a:bodyPr wrap="square" lIns="0" tIns="0" rIns="0" bIns="0" rtlCol="0" anchor="ctr"/>
          <a:lstStyle/>
          <a:p>
            <a:pPr marL="0" indent="0">
              <a:buNone/>
            </a:pPr>
            <a:r>
              <a:rPr lang="en-US" sz="1600" i="1" dirty="0">
                <a:solidFill>
                  <a:srgbClr val="A9BAD4"/>
                </a:solidFill>
                <a:latin typeface="Calibri" pitchFamily="34" charset="0"/>
                <a:ea typeface="Calibri" pitchFamily="34" charset="-122"/>
                <a:cs typeface="Calibri" pitchFamily="34" charset="-120"/>
              </a:rPr>
              <a:t>Retrieval as a node · auditing as a separate prompt · safety as graph topology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Knowledge Bases and Vector Indexing</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Two indices, built offline and queried independently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463040"/>
          <a:ext cx="10789920" cy="2804160"/>
        </p:xfrm>
        <a:graphic>
          <a:graphicData uri="http://schemas.openxmlformats.org/drawingml/2006/table">
            <a:tbl>
              <a:tblPr/>
              <a:tblGrid>
                <a:gridCol w="31089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0">
                <a:tc>
                  <a:txBody>
                    <a:bodyPr/>
                    <a:lstStyle/>
                    <a:p>
                      <a:pPr marL="0" indent="0">
                        <a:buNone/>
                      </a:pP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Diagnosis knowledge base</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Treatment knowledge base</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Clinical Guide to Laboratory Tests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Treatment protocols (StatPearls)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Source pages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Chunk size / overlap</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1,000 / 150 characters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1,000 / 150 characters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Embedded chunks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147</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107</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Retriever top-k</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Query formulation</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one per extracted marker</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one for the confirmed diagnosis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Context cap</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4,000 characters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2,000 characters</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4"/>
          <p:cNvSpPr/>
          <p:nvPr/>
        </p:nvSpPr>
        <p:spPr>
          <a:xfrm>
            <a:off x="685800" y="4480560"/>
            <a:ext cx="10789920" cy="658368"/>
          </a:xfrm>
          <a:prstGeom prst="roundRect">
            <a:avLst>
              <a:gd name="adj" fmla="val 8333"/>
            </a:avLst>
          </a:prstGeom>
          <a:solidFill>
            <a:srgbClr val="EFF3FB"/>
          </a:solidFill>
          <a:ln w="12700">
            <a:solidFill>
              <a:srgbClr val="D3DDF2"/>
            </a:solidFill>
            <a:prstDash val="solid"/>
          </a:ln>
        </p:spPr>
      </p:sp>
      <p:sp>
        <p:nvSpPr>
          <p:cNvPr id="8" name="Text 5"/>
          <p:cNvSpPr/>
          <p:nvPr/>
        </p:nvSpPr>
        <p:spPr>
          <a:xfrm>
            <a:off x="914400" y="4535424"/>
            <a:ext cx="10332720" cy="548640"/>
          </a:xfrm>
          <a:prstGeom prst="rect">
            <a:avLst/>
          </a:prstGeom>
          <a:noFill/>
          <a:ln/>
        </p:spPr>
        <p:txBody>
          <a:bodyPr wrap="square" lIns="0" tIns="0" rIns="0" bIns="0"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Committed as built artefacts — retrieval is reproducible and no embedding call is made at request time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The Diagnosis Agent</a:t>
            </a:r>
            <a:endParaRPr lang="en-US" sz="3000" dirty="0"/>
          </a:p>
        </p:txBody>
      </p:sp>
      <p:pic>
        <p:nvPicPr>
          <p:cNvPr id="5" name="Image 0" descr="/sessions/youthful-trusting-brown/mnt/acdss_fullstack/report/figures/Diagnosis_graph.png"/>
          <p:cNvPicPr>
            <a:picLocks noChangeAspect="1"/>
          </p:cNvPicPr>
          <p:nvPr/>
        </p:nvPicPr>
        <p:blipFill>
          <a:blip r:embed="rId3"/>
          <a:stretch>
            <a:fillRect/>
          </a:stretch>
        </p:blipFill>
        <p:spPr>
          <a:xfrm>
            <a:off x="3471393" y="1005840"/>
            <a:ext cx="5218733" cy="4709160"/>
          </a:xfrm>
          <a:prstGeom prst="rect">
            <a:avLst/>
          </a:prstGeom>
        </p:spPr>
      </p:pic>
      <p:sp>
        <p:nvSpPr>
          <p:cNvPr id="6" name="Text 3"/>
          <p:cNvSpPr/>
          <p:nvPr/>
        </p:nvSpPr>
        <p:spPr>
          <a:xfrm>
            <a:off x="685800" y="5824728"/>
            <a:ext cx="10789920" cy="31089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Four sequential nodes with a conditional edge returning low-confidence results for targeted re-analysis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The Confidence Gate</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Additional inference is spent only where the system judges itself uncertain</a:t>
            </a:r>
            <a:endParaRPr lang="en-US" sz="1400" dirty="0"/>
          </a:p>
        </p:txBody>
      </p:sp>
      <p:sp>
        <p:nvSpPr>
          <p:cNvPr id="6" name="Text 4"/>
          <p:cNvSpPr/>
          <p:nvPr/>
        </p:nvSpPr>
        <p:spPr>
          <a:xfrm>
            <a:off x="868680" y="1463040"/>
            <a:ext cx="5486400" cy="914400"/>
          </a:xfrm>
          <a:prstGeom prst="rect">
            <a:avLst/>
          </a:prstGeom>
          <a:noFill/>
          <a:ln/>
        </p:spPr>
        <p:txBody>
          <a:bodyPr wrap="square" lIns="0" tIns="0" rIns="0" bIns="0" rtlCol="0" anchor="ctr"/>
          <a:lstStyle/>
          <a:p>
            <a:pPr marL="0" indent="0">
              <a:lnSpc>
                <a:spcPts val="2800"/>
              </a:lnSpc>
              <a:buNone/>
            </a:pPr>
            <a:r>
              <a:rPr lang="en-US" sz="1500" dirty="0">
                <a:solidFill>
                  <a:srgbClr val="64748B"/>
                </a:solidFill>
                <a:latin typeface="Courier New" pitchFamily="34" charset="0"/>
                <a:ea typeface="Courier New" pitchFamily="34" charset="-122"/>
                <a:cs typeface="Courier New" pitchFamily="34" charset="-120"/>
              </a:rPr>
              <a:t>if  c &lt; 80  and  r ≤ 2</a:t>
            </a:r>
            <a:r>
              <a:rPr lang="en-US" sz="1500" b="1" dirty="0">
                <a:solidFill>
                  <a:srgbClr val="1E293B"/>
                </a:solidFill>
                <a:latin typeface="Courier New" pitchFamily="34" charset="0"/>
                <a:ea typeface="Courier New" pitchFamily="34" charset="-122"/>
                <a:cs typeface="Courier New" pitchFamily="34" charset="-120"/>
              </a:rPr>
              <a:t>    →  re-analyse</a:t>
            </a:r>
            <a:endParaRPr lang="en-US" sz="1500" dirty="0"/>
          </a:p>
          <a:p>
            <a:pPr marL="0" indent="0">
              <a:lnSpc>
                <a:spcPts val="2800"/>
              </a:lnSpc>
              <a:buNone/>
            </a:pPr>
            <a:r>
              <a:rPr lang="en-US" sz="1500" dirty="0">
                <a:solidFill>
                  <a:srgbClr val="64748B"/>
                </a:solidFill>
                <a:latin typeface="Courier New" pitchFamily="34" charset="0"/>
                <a:ea typeface="Courier New" pitchFamily="34" charset="-122"/>
                <a:cs typeface="Courier New" pitchFamily="34" charset="-120"/>
              </a:rPr>
              <a:t>otherwise</a:t>
            </a:r>
            <a:r>
              <a:rPr lang="en-US" sz="1500" b="1" dirty="0">
                <a:solidFill>
                  <a:srgbClr val="1E293B"/>
                </a:solidFill>
                <a:latin typeface="Courier New" pitchFamily="34" charset="0"/>
                <a:ea typeface="Courier New" pitchFamily="34" charset="-122"/>
                <a:cs typeface="Courier New" pitchFamily="34" charset="-120"/>
              </a:rPr>
              <a:t>                       →  END</a:t>
            </a:r>
            <a:endParaRPr lang="en-US" sz="1500" dirty="0"/>
          </a:p>
        </p:txBody>
      </p:sp>
      <p:sp>
        <p:nvSpPr>
          <p:cNvPr id="7" name="Text 5"/>
          <p:cNvSpPr/>
          <p:nvPr/>
        </p:nvSpPr>
        <p:spPr>
          <a:xfrm>
            <a:off x="685800" y="2468880"/>
            <a:ext cx="5669280" cy="3657600"/>
          </a:xfrm>
          <a:prstGeom prst="rect">
            <a:avLst/>
          </a:prstGeom>
          <a:noFill/>
          <a:ln/>
        </p:spPr>
        <p:txBody>
          <a:bodyPr wrap="square" lIns="0" tIns="0" rIns="0" bIns="0" rtlCol="0" anchor="t"/>
          <a:lstStyle/>
          <a:p>
            <a:pPr marL="228600" indent="-228600">
              <a:lnSpc>
                <a:spcPts val="189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c = audited confidence, r = retries consumed</a:t>
            </a:r>
            <a:endParaRPr lang="en-US" sz="1400" dirty="0"/>
          </a:p>
          <a:p>
            <a:pPr marL="228600" indent="-228600">
              <a:lnSpc>
                <a:spcPts val="189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Bounded: the analysis node executes at most three times, whatever the confidence</a:t>
            </a:r>
            <a:endParaRPr lang="en-US" sz="1400" dirty="0"/>
          </a:p>
          <a:p>
            <a:pPr marL="228600" indent="-228600">
              <a:lnSpc>
                <a:spcPts val="189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Informed: the retry prompt carries the auditor's specific criticism — revision, not resampling</a:t>
            </a:r>
            <a:endParaRPr lang="en-US" sz="1400" dirty="0"/>
          </a:p>
          <a:p>
            <a:pPr marL="228600" indent="-228600">
              <a:lnSpc>
                <a:spcPts val="189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Fails safe: a missing audit summary defaults to 100 so a malformed state terminates rather than looping</a:t>
            </a:r>
            <a:endParaRPr lang="en-US" sz="1400" dirty="0"/>
          </a:p>
        </p:txBody>
      </p:sp>
      <p:sp>
        <p:nvSpPr>
          <p:cNvPr id="8" name="Shape 6"/>
          <p:cNvSpPr/>
          <p:nvPr/>
        </p:nvSpPr>
        <p:spPr>
          <a:xfrm>
            <a:off x="6766560" y="1508760"/>
            <a:ext cx="4709160" cy="2331720"/>
          </a:xfrm>
          <a:prstGeom prst="roundRect">
            <a:avLst>
              <a:gd name="adj" fmla="val 3137"/>
            </a:avLst>
          </a:prstGeom>
          <a:solidFill>
            <a:srgbClr val="EFF3FB"/>
          </a:solidFill>
          <a:ln w="12700">
            <a:solidFill>
              <a:srgbClr val="D3DDF2"/>
            </a:solidFill>
            <a:prstDash val="solid"/>
          </a:ln>
        </p:spPr>
      </p:sp>
      <p:sp>
        <p:nvSpPr>
          <p:cNvPr id="9" name="Text 7"/>
          <p:cNvSpPr/>
          <p:nvPr/>
        </p:nvSpPr>
        <p:spPr>
          <a:xfrm>
            <a:off x="6967728" y="1655064"/>
            <a:ext cx="4306824" cy="384048"/>
          </a:xfrm>
          <a:prstGeom prst="rect">
            <a:avLst/>
          </a:prstGeom>
          <a:noFill/>
          <a:ln/>
        </p:spPr>
        <p:txBody>
          <a:bodyPr wrap="square" lIns="0" tIns="0" rIns="0" bIns="0"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Why the bound matters</a:t>
            </a:r>
            <a:endParaRPr lang="en-US" sz="1500" dirty="0"/>
          </a:p>
        </p:txBody>
      </p:sp>
      <p:sp>
        <p:nvSpPr>
          <p:cNvPr id="10" name="Text 8"/>
          <p:cNvSpPr/>
          <p:nvPr/>
        </p:nvSpPr>
        <p:spPr>
          <a:xfrm>
            <a:off x="6967728" y="2057400"/>
            <a:ext cx="4306824" cy="1618488"/>
          </a:xfrm>
          <a:prstGeom prst="rect">
            <a:avLst/>
          </a:prstGeom>
          <a:noFill/>
          <a:ln/>
        </p:spPr>
        <p:txBody>
          <a:bodyPr wrap="square" lIns="0" tIns="0" rIns="0" bIns="0" rtlCol="0" anchor="t"/>
          <a:lstStyle/>
          <a:p>
            <a:pPr marL="0" indent="0">
              <a:lnSpc>
                <a:spcPts val="1700"/>
              </a:lnSpc>
              <a:buNone/>
            </a:pPr>
            <a:r>
              <a:rPr lang="en-US" sz="1250" dirty="0">
                <a:solidFill>
                  <a:srgbClr val="1E293B"/>
                </a:solidFill>
                <a:latin typeface="Calibri" pitchFamily="34" charset="0"/>
                <a:ea typeface="Calibri" pitchFamily="34" charset="-122"/>
                <a:cs typeface="Calibri" pitchFamily="34" charset="-120"/>
              </a:rPr>
              <a:t>Without it, a genuinely ambiguous case would loop until the request timed out — which is worse for the clinician than a clearly labelled uncertain answer.</a:t>
            </a:r>
            <a:endParaRPr lang="en-US" sz="1250" dirty="0"/>
          </a:p>
          <a:p>
            <a:pPr marL="0" indent="0">
              <a:lnSpc>
                <a:spcPts val="1700"/>
              </a:lnSpc>
              <a:buNone/>
            </a:pPr>
            <a:endParaRPr lang="en-US" sz="1250" dirty="0"/>
          </a:p>
          <a:p>
            <a:pPr marL="0" indent="0">
              <a:lnSpc>
                <a:spcPts val="1700"/>
              </a:lnSpc>
              <a:buNone/>
            </a:pPr>
            <a:r>
              <a:rPr lang="en-US" sz="1250" dirty="0">
                <a:solidFill>
                  <a:srgbClr val="1E293B"/>
                </a:solidFill>
                <a:latin typeface="Calibri" pitchFamily="34" charset="0"/>
                <a:ea typeface="Calibri" pitchFamily="34" charset="-122"/>
                <a:cs typeface="Calibri" pitchFamily="34" charset="-120"/>
              </a:rPr>
              <a:t>If the budget is exhausted with confidence still low, the low score is returned and shown as low confidence. Nothing is hidden.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The Treatment Agent</a:t>
            </a:r>
            <a:endParaRPr lang="en-US" sz="3000" dirty="0"/>
          </a:p>
        </p:txBody>
      </p:sp>
      <p:pic>
        <p:nvPicPr>
          <p:cNvPr id="5" name="Image 0" descr="/sessions/youthful-trusting-brown/mnt/acdss_fullstack/report/figures/Treatment_graph.png"/>
          <p:cNvPicPr>
            <a:picLocks noChangeAspect="1"/>
          </p:cNvPicPr>
          <p:nvPr/>
        </p:nvPicPr>
        <p:blipFill>
          <a:blip r:embed="rId3"/>
          <a:stretch>
            <a:fillRect/>
          </a:stretch>
        </p:blipFill>
        <p:spPr>
          <a:xfrm>
            <a:off x="3082834" y="1051560"/>
            <a:ext cx="5995851" cy="4663440"/>
          </a:xfrm>
          <a:prstGeom prst="rect">
            <a:avLst/>
          </a:prstGeom>
        </p:spPr>
      </p:pic>
      <p:sp>
        <p:nvSpPr>
          <p:cNvPr id="6" name="Text 3"/>
          <p:cNvSpPr/>
          <p:nvPr/>
        </p:nvSpPr>
        <p:spPr>
          <a:xfrm>
            <a:off x="685800" y="5824728"/>
            <a:ext cx="10789920" cy="31089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Node ordering is the safety mechanism: contraindications are derived before any plan exists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The Meta-Evaluator</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Nothing so far checks that the plan is appropriate for that diagnosis</a:t>
            </a:r>
            <a:endParaRPr lang="en-US" sz="1400" dirty="0"/>
          </a:p>
        </p:txBody>
      </p:sp>
      <p:sp>
        <p:nvSpPr>
          <p:cNvPr id="6" name="Text 4"/>
          <p:cNvSpPr/>
          <p:nvPr/>
        </p:nvSpPr>
        <p:spPr>
          <a:xfrm>
            <a:off x="685800" y="1417320"/>
            <a:ext cx="10789920" cy="4709160"/>
          </a:xfrm>
          <a:prstGeom prst="rect">
            <a:avLst/>
          </a:prstGeom>
          <a:noFill/>
          <a:ln/>
        </p:spPr>
        <p:txBody>
          <a:bodyPr wrap="square" lIns="0" tIns="0" rIns="0" bIns="0" rtlCol="0" anchor="t"/>
          <a:lstStyle/>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A third call, outside both graphs</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Receives a compact summary — hypothesis, severity, key abnormal markers, step count, prognosis and the flagged contraindications</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Returns a quality score, consistency verdict, safety verdict, explicit safety flags and a recommendation of what to verify next</a:t>
            </a:r>
            <a:endParaRPr lang="en-US" sz="1550" dirty="0"/>
          </a:p>
          <a:p>
            <a:pPr marL="228600" indent="-228600">
              <a:lnSpc>
                <a:spcPts val="2093"/>
              </a:lnSpc>
              <a:spcAft>
                <a:spcPts val="900"/>
              </a:spcAft>
              <a:buSzPct val="100000"/>
              <a:buChar char="•"/>
            </a:pPr>
            <a:r>
              <a:rPr lang="en-US" sz="1550" b="1" dirty="0">
                <a:solidFill>
                  <a:srgbClr val="1E293B"/>
                </a:solidFill>
                <a:latin typeface="Calibri" pitchFamily="34" charset="0"/>
                <a:ea typeface="Calibri" pitchFamily="34" charset="-122"/>
                <a:cs typeface="Calibri" pitchFamily="34" charset="-120"/>
              </a:rPr>
              <a:t>Two deliberate design points</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It receives a summary rather than the full artefacts, forcing the check to operate at the level of clinical coherence rather than re-litigating numbers the per-agent auditors already checked</a:t>
            </a:r>
            <a:endParaRPr lang="en-US" sz="1550" dirty="0"/>
          </a:p>
          <a:p>
            <a:pPr marL="457200" lvl="1" indent="-228600">
              <a:lnSpc>
                <a:spcPts val="2093"/>
              </a:lnSpc>
              <a:spcAft>
                <a:spcPts val="500"/>
              </a:spcAft>
              <a:buSzPct val="100000"/>
              <a:buChar char="•"/>
            </a:pPr>
            <a:r>
              <a:rPr lang="en-US" sz="1350" dirty="0">
                <a:solidFill>
                  <a:srgbClr val="64748B"/>
                </a:solidFill>
                <a:latin typeface="Calibri" pitchFamily="34" charset="0"/>
                <a:ea typeface="Calibri" pitchFamily="34" charset="-122"/>
                <a:cs typeface="Calibri" pitchFamily="34" charset="-120"/>
              </a:rPr>
              <a:t>Contraindications are forwarded from the treatment agent, so it can confirm the constraint was honoured rather than merely recorded</a:t>
            </a:r>
            <a:endParaRPr lang="en-US" sz="1550" dirty="0"/>
          </a:p>
        </p:txBody>
      </p:sp>
      <p:sp>
        <p:nvSpPr>
          <p:cNvPr id="7" name="Shape 5"/>
          <p:cNvSpPr/>
          <p:nvPr/>
        </p:nvSpPr>
        <p:spPr>
          <a:xfrm>
            <a:off x="685800" y="4160520"/>
            <a:ext cx="10789920" cy="658368"/>
          </a:xfrm>
          <a:prstGeom prst="roundRect">
            <a:avLst>
              <a:gd name="adj" fmla="val 8333"/>
            </a:avLst>
          </a:prstGeom>
          <a:solidFill>
            <a:srgbClr val="EFF3FB"/>
          </a:solidFill>
          <a:ln w="12700">
            <a:solidFill>
              <a:srgbClr val="D3DDF2"/>
            </a:solidFill>
            <a:prstDash val="solid"/>
          </a:ln>
        </p:spPr>
      </p:sp>
      <p:sp>
        <p:nvSpPr>
          <p:cNvPr id="8" name="Text 6"/>
          <p:cNvSpPr/>
          <p:nvPr/>
        </p:nvSpPr>
        <p:spPr>
          <a:xfrm>
            <a:off x="914400" y="4215384"/>
            <a:ext cx="10332720" cy="548640"/>
          </a:xfrm>
          <a:prstGeom prst="rect">
            <a:avLst/>
          </a:prstGeom>
          <a:noFill/>
          <a:ln/>
        </p:spPr>
        <p:txBody>
          <a:bodyPr wrap="square" lIns="0" tIns="0" rIns="0" bIns="0" rtlCol="0" anchor="ctr"/>
          <a:lstStyle/>
          <a:p>
            <a:r>
              <a:rPr lang="en-US" sz="1500" b="1" dirty="0">
                <a:solidFill>
                  <a:srgbClr val="1D4ED8"/>
                </a:solidFill>
                <a:latin typeface="Calibri"/>
                <a:ea typeface="Calibri"/>
                <a:cs typeface="Calibri"/>
              </a:rPr>
              <a:t>Conservative by default: an  un-</a:t>
            </a:r>
            <a:r>
              <a:rPr lang="en-US" sz="1500" b="1">
                <a:solidFill>
                  <a:srgbClr val="1D4ED8"/>
                </a:solidFill>
                <a:latin typeface="Calibri"/>
                <a:ea typeface="Calibri"/>
                <a:cs typeface="Calibri"/>
              </a:rPr>
              <a:t>parse able</a:t>
            </a:r>
            <a:r>
              <a:rPr lang="en-US" sz="1500" b="1" dirty="0">
                <a:solidFill>
                  <a:srgbClr val="1D4ED8"/>
                </a:solidFill>
                <a:latin typeface="Calibri"/>
                <a:ea typeface="Calibri"/>
                <a:cs typeface="Calibri"/>
              </a:rPr>
              <a:t> response yields 'review recommended' — a failed audit never presents as an approval</a:t>
            </a:r>
            <a:endParaRPr lang="en-US" sz="1500" dirty="0">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End-to-End Information Flow</a:t>
            </a:r>
            <a:endParaRPr lang="en-US" sz="3000" dirty="0"/>
          </a:p>
        </p:txBody>
      </p:sp>
      <p:pic>
        <p:nvPicPr>
          <p:cNvPr id="5" name="Image 0" descr="/sessions/youthful-trusting-brown/mnt/acdss_fullstack/report/figures/architecture_pipeline_flow.png"/>
          <p:cNvPicPr>
            <a:picLocks noChangeAspect="1"/>
          </p:cNvPicPr>
          <p:nvPr/>
        </p:nvPicPr>
        <p:blipFill>
          <a:blip r:embed="rId3"/>
          <a:stretch>
            <a:fillRect/>
          </a:stretch>
        </p:blipFill>
        <p:spPr>
          <a:xfrm>
            <a:off x="3646053" y="1051560"/>
            <a:ext cx="4869413" cy="4663440"/>
          </a:xfrm>
          <a:prstGeom prst="rect">
            <a:avLst/>
          </a:prstGeom>
        </p:spPr>
      </p:pic>
      <p:sp>
        <p:nvSpPr>
          <p:cNvPr id="6" name="Text 3"/>
          <p:cNvSpPr/>
          <p:nvPr/>
        </p:nvSpPr>
        <p:spPr>
          <a:xfrm>
            <a:off x="685800" y="5824728"/>
            <a:ext cx="10789920" cy="31089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From image upload and OCR through the dual-agent RAG pipeline and the Meta-Evaluator to the patient-facing summary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00800"/>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ACDSS  ·  B.Tech Project, End Term Evaluation</a:t>
            </a:r>
            <a:endParaRPr lang="en-US" sz="1000" dirty="0"/>
          </a:p>
        </p:txBody>
      </p:sp>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Results — OCR and Marker Recovery</a:t>
            </a:r>
            <a:endParaRPr lang="en-US" sz="3000" dirty="0"/>
          </a:p>
        </p:txBody>
      </p:sp>
      <p:sp>
        <p:nvSpPr>
          <p:cNvPr id="5" name="Text 3"/>
          <p:cNvSpPr/>
          <p:nvPr/>
        </p:nvSpPr>
        <p:spPr>
          <a:xfrm>
            <a:off x="960120" y="1234440"/>
            <a:ext cx="3200400" cy="822960"/>
          </a:xfrm>
          <a:prstGeom prst="rect">
            <a:avLst/>
          </a:prstGeom>
          <a:noFill/>
          <a:ln/>
        </p:spPr>
        <p:txBody>
          <a:bodyPr wrap="square" lIns="0" tIns="0" rIns="0" bIns="0" rtlCol="0" anchor="ctr"/>
          <a:lstStyle/>
          <a:p>
            <a:pPr marL="0" indent="0" algn="ctr">
              <a:buNone/>
            </a:pPr>
            <a:r>
              <a:rPr lang="en-US" sz="4600" b="1" dirty="0">
                <a:solidFill>
                  <a:srgbClr val="1D4ED8"/>
                </a:solidFill>
                <a:latin typeface="Cambria" pitchFamily="34" charset="0"/>
                <a:ea typeface="Cambria" pitchFamily="34" charset="-122"/>
                <a:cs typeface="Cambria" pitchFamily="34" charset="-120"/>
              </a:rPr>
              <a:t>74.0%</a:t>
            </a:r>
            <a:endParaRPr lang="en-US" sz="4600" dirty="0"/>
          </a:p>
        </p:txBody>
      </p:sp>
      <p:sp>
        <p:nvSpPr>
          <p:cNvPr id="6" name="Text 4"/>
          <p:cNvSpPr/>
          <p:nvPr/>
        </p:nvSpPr>
        <p:spPr>
          <a:xfrm>
            <a:off x="960120" y="2039112"/>
            <a:ext cx="3200400" cy="5486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of 50 ground-truth marker</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values recovered</a:t>
            </a:r>
            <a:endParaRPr lang="en-US" sz="1300" dirty="0"/>
          </a:p>
        </p:txBody>
      </p:sp>
      <p:sp>
        <p:nvSpPr>
          <p:cNvPr id="7" name="Text 5"/>
          <p:cNvSpPr/>
          <p:nvPr/>
        </p:nvSpPr>
        <p:spPr>
          <a:xfrm>
            <a:off x="4709160" y="1234440"/>
            <a:ext cx="3200400" cy="822960"/>
          </a:xfrm>
          <a:prstGeom prst="rect">
            <a:avLst/>
          </a:prstGeom>
          <a:noFill/>
          <a:ln/>
        </p:spPr>
        <p:txBody>
          <a:bodyPr wrap="square" lIns="0" tIns="0" rIns="0" bIns="0" rtlCol="0" anchor="ctr"/>
          <a:lstStyle/>
          <a:p>
            <a:pPr marL="0" indent="0" algn="ctr">
              <a:buNone/>
            </a:pPr>
            <a:r>
              <a:rPr lang="en-US" sz="4600" b="1" dirty="0">
                <a:solidFill>
                  <a:srgbClr val="1D4ED8"/>
                </a:solidFill>
                <a:latin typeface="Cambria" pitchFamily="34" charset="0"/>
                <a:ea typeface="Cambria" pitchFamily="34" charset="-122"/>
                <a:cs typeface="Cambria" pitchFamily="34" charset="-120"/>
              </a:rPr>
              <a:t>1.91 s</a:t>
            </a:r>
            <a:endParaRPr lang="en-US" sz="4600" dirty="0"/>
          </a:p>
        </p:txBody>
      </p:sp>
      <p:sp>
        <p:nvSpPr>
          <p:cNvPr id="8" name="Text 6"/>
          <p:cNvSpPr/>
          <p:nvPr/>
        </p:nvSpPr>
        <p:spPr>
          <a:xfrm>
            <a:off x="4709160" y="2039112"/>
            <a:ext cx="3200400" cy="5486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mean extraction latency</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per page</a:t>
            </a:r>
            <a:endParaRPr lang="en-US" sz="1300" dirty="0"/>
          </a:p>
        </p:txBody>
      </p:sp>
      <p:sp>
        <p:nvSpPr>
          <p:cNvPr id="9" name="Text 7"/>
          <p:cNvSpPr/>
          <p:nvPr/>
        </p:nvSpPr>
        <p:spPr>
          <a:xfrm>
            <a:off x="8458200" y="1234440"/>
            <a:ext cx="3200400" cy="822960"/>
          </a:xfrm>
          <a:prstGeom prst="rect">
            <a:avLst/>
          </a:prstGeom>
          <a:noFill/>
          <a:ln/>
        </p:spPr>
        <p:txBody>
          <a:bodyPr wrap="square" lIns="0" tIns="0" rIns="0" bIns="0" rtlCol="0" anchor="ctr"/>
          <a:lstStyle/>
          <a:p>
            <a:pPr marL="0" indent="0" algn="ctr">
              <a:buNone/>
            </a:pPr>
            <a:r>
              <a:rPr lang="en-US" sz="4600" b="1" dirty="0">
                <a:solidFill>
                  <a:srgbClr val="1D4ED8"/>
                </a:solidFill>
                <a:latin typeface="Cambria" pitchFamily="34" charset="0"/>
                <a:ea typeface="Cambria" pitchFamily="34" charset="-122"/>
                <a:cs typeface="Cambria" pitchFamily="34" charset="-120"/>
              </a:rPr>
              <a:t>50 – 89%</a:t>
            </a:r>
            <a:endParaRPr lang="en-US" sz="4600" dirty="0"/>
          </a:p>
        </p:txBody>
      </p:sp>
      <p:sp>
        <p:nvSpPr>
          <p:cNvPr id="10" name="Text 8"/>
          <p:cNvSpPr/>
          <p:nvPr/>
        </p:nvSpPr>
        <p:spPr>
          <a:xfrm>
            <a:off x="8458200" y="2039112"/>
            <a:ext cx="3200400" cy="5486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spread across the five</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reports</a:t>
            </a:r>
            <a:endParaRPr lang="en-US" sz="1300" dirty="0"/>
          </a:p>
        </p:txBody>
      </p:sp>
      <p:pic>
        <p:nvPicPr>
          <p:cNvPr id="11" name="Image 0" descr="/sessions/youthful-trusting-brown/mnt/acdss_fullstack/report/figures/ocr_recovery.png"/>
          <p:cNvPicPr>
            <a:picLocks noChangeAspect="1"/>
          </p:cNvPicPr>
          <p:nvPr/>
        </p:nvPicPr>
        <p:blipFill>
          <a:blip r:embed="rId3"/>
          <a:stretch>
            <a:fillRect/>
          </a:stretch>
        </p:blipFill>
        <p:spPr>
          <a:xfrm>
            <a:off x="1952742" y="2697480"/>
            <a:ext cx="8256036" cy="3017520"/>
          </a:xfrm>
          <a:prstGeom prst="rect">
            <a:avLst/>
          </a:prstGeom>
        </p:spPr>
      </p:pic>
      <p:sp>
        <p:nvSpPr>
          <p:cNvPr id="12" name="Text 9"/>
          <p:cNvSpPr/>
          <p:nvPr/>
        </p:nvSpPr>
        <p:spPr>
          <a:xfrm>
            <a:off x="685800" y="5824728"/>
            <a:ext cx="10789920" cy="31089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Recovery ranges from 50% on the hand-annotated biochemistry page to 89% on the flattest, highest-contrast report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00800"/>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ACDSS  ·  B.Tech Project, End Term Evaluation</a:t>
            </a:r>
            <a:endParaRPr lang="en-US" sz="1000" dirty="0"/>
          </a:p>
        </p:txBody>
      </p:sp>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Verification of the Deterministic Components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3756938104"/>
              </p:ext>
            </p:extLst>
          </p:nvPr>
        </p:nvGraphicFramePr>
        <p:xfrm>
          <a:off x="685800" y="1188720"/>
          <a:ext cx="5577840" cy="2453640"/>
        </p:xfrm>
        <a:graphic>
          <a:graphicData uri="http://schemas.openxmlformats.org/drawingml/2006/table">
            <a:tbl>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Audited confidence</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 = 0</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 = 2</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 = 3</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a:ea typeface="Calibri"/>
                          <a:cs typeface="Calibri"/>
                        </a:rPr>
                        <a:t>re-</a:t>
                      </a:r>
                      <a:r>
                        <a:rPr lang="en-US" sz="1300" dirty="0" err="1">
                          <a:solidFill>
                            <a:srgbClr val="1E293B"/>
                          </a:solidFill>
                          <a:latin typeface="Calibri"/>
                          <a:ea typeface="Calibri"/>
                          <a:cs typeface="Calibri"/>
                        </a:rPr>
                        <a:t>analyse</a:t>
                      </a:r>
                      <a:r>
                        <a:rPr lang="en-US" sz="1300" dirty="0">
                          <a:solidFill>
                            <a:srgbClr val="1E293B"/>
                          </a:solidFill>
                          <a:latin typeface="Calibri"/>
                          <a:ea typeface="Calibri"/>
                          <a:cs typeface="Calibri"/>
                        </a:rPr>
                        <a:t>  </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a:ea typeface="Calibri"/>
                          <a:cs typeface="Calibri"/>
                        </a:rPr>
                        <a:t>re-</a:t>
                      </a:r>
                      <a:r>
                        <a:rPr lang="en-US" sz="1300" dirty="0" err="1">
                          <a:solidFill>
                            <a:srgbClr val="1E293B"/>
                          </a:solidFill>
                          <a:latin typeface="Calibri"/>
                          <a:ea typeface="Calibri"/>
                          <a:cs typeface="Calibri"/>
                        </a:rPr>
                        <a:t>analyse</a:t>
                      </a:r>
                      <a:r>
                        <a:rPr lang="en-US" sz="1300" dirty="0">
                          <a:solidFill>
                            <a:srgbClr val="1E293B"/>
                          </a:solidFill>
                          <a:latin typeface="Calibri"/>
                          <a:ea typeface="Calibri"/>
                          <a:cs typeface="Calibri"/>
                        </a:rPr>
                        <a:t> </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a:ea typeface="Calibri"/>
                          <a:cs typeface="Calibri"/>
                        </a:rPr>
                        <a:t>re - </a:t>
                      </a:r>
                      <a:r>
                        <a:rPr lang="en-US" sz="1300" dirty="0" err="1">
                          <a:solidFill>
                            <a:srgbClr val="1E293B"/>
                          </a:solidFill>
                          <a:latin typeface="Calibri"/>
                          <a:ea typeface="Calibri"/>
                          <a:cs typeface="Calibri"/>
                        </a:rPr>
                        <a:t>analyse</a:t>
                      </a:r>
                      <a:r>
                        <a:rPr lang="en-US" sz="1300" dirty="0">
                          <a:solidFill>
                            <a:srgbClr val="1E293B"/>
                          </a:solidFill>
                          <a:latin typeface="Calibri"/>
                          <a:ea typeface="Calibri"/>
                          <a:cs typeface="Calibri"/>
                        </a:rPr>
                        <a:t>  </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a:ea typeface="Calibri"/>
                          <a:cs typeface="Calibri"/>
                        </a:rPr>
                        <a:t>re-</a:t>
                      </a:r>
                      <a:r>
                        <a:rPr lang="en-US" sz="1300" dirty="0" err="1">
                          <a:solidFill>
                            <a:srgbClr val="1E293B"/>
                          </a:solidFill>
                          <a:latin typeface="Calibri"/>
                          <a:ea typeface="Calibri"/>
                          <a:cs typeface="Calibri"/>
                        </a:rPr>
                        <a:t>analyse</a:t>
                      </a:r>
                      <a:r>
                        <a:rPr lang="en-US" sz="1300" dirty="0">
                          <a:solidFill>
                            <a:srgbClr val="1E293B"/>
                          </a:solidFill>
                          <a:latin typeface="Calibri"/>
                          <a:ea typeface="Calibri"/>
                          <a:cs typeface="Calibri"/>
                        </a:rPr>
                        <a:t> </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a:ea typeface="Calibri"/>
                          <a:cs typeface="Calibri"/>
                        </a:rPr>
                        <a:t>re-</a:t>
                      </a:r>
                      <a:r>
                        <a:rPr lang="en-US" sz="1300" dirty="0" err="1">
                          <a:solidFill>
                            <a:srgbClr val="1E293B"/>
                          </a:solidFill>
                          <a:latin typeface="Calibri"/>
                          <a:ea typeface="Calibri"/>
                          <a:cs typeface="Calibri"/>
                        </a:rPr>
                        <a:t>analyse</a:t>
                      </a:r>
                      <a:r>
                        <a:rPr lang="en-US" sz="1300" dirty="0">
                          <a:solidFill>
                            <a:srgbClr val="1E293B"/>
                          </a:solidFill>
                          <a:latin typeface="Calibri"/>
                          <a:ea typeface="Calibri"/>
                          <a:cs typeface="Calibri"/>
                        </a:rPr>
                        <a:t> </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a:ea typeface="Calibri"/>
                          <a:cs typeface="Calibri"/>
                        </a:rPr>
                        <a:t>re-</a:t>
                      </a:r>
                      <a:r>
                        <a:rPr lang="en-US" sz="1300" dirty="0" err="1">
                          <a:solidFill>
                            <a:srgbClr val="1E293B"/>
                          </a:solidFill>
                          <a:latin typeface="Calibri"/>
                          <a:ea typeface="Calibri"/>
                          <a:cs typeface="Calibri"/>
                        </a:rPr>
                        <a:t>analyse</a:t>
                      </a:r>
                      <a:r>
                        <a:rPr lang="en-US" sz="1300" dirty="0">
                          <a:solidFill>
                            <a:srgbClr val="1E293B"/>
                          </a:solidFill>
                          <a:latin typeface="Calibri"/>
                          <a:ea typeface="Calibri"/>
                          <a:cs typeface="Calibri"/>
                        </a:rPr>
                        <a:t> </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END</a:t>
                      </a:r>
                      <a:endParaRPr lang="en-US" sz="130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6355080" y="1188720"/>
            <a:ext cx="5120640" cy="4937760"/>
          </a:xfrm>
          <a:prstGeom prst="rect">
            <a:avLst/>
          </a:prstGeom>
          <a:noFill/>
          <a:ln/>
        </p:spPr>
        <p:txBody>
          <a:bodyPr wrap="square" lIns="0" tIns="0" rIns="0" bIns="0" rtlCol="0" anchor="t"/>
          <a:lstStyle/>
          <a:p>
            <a:pPr marL="228600" indent="-228600">
              <a:lnSpc>
                <a:spcPts val="1823"/>
              </a:lnSpc>
              <a:spcAft>
                <a:spcPts val="900"/>
              </a:spcAft>
              <a:buSzPct val="100000"/>
              <a:buChar char="•"/>
            </a:pPr>
            <a:r>
              <a:rPr lang="en-US" sz="1350" b="1" dirty="0">
                <a:solidFill>
                  <a:srgbClr val="1E293B"/>
                </a:solidFill>
                <a:latin typeface="Calibri" pitchFamily="34" charset="0"/>
                <a:ea typeface="Calibri" pitchFamily="34" charset="-122"/>
                <a:cs typeface="Calibri" pitchFamily="34" charset="-120"/>
              </a:rPr>
              <a:t>The threshold is exact</a:t>
            </a:r>
            <a:endParaRPr lang="en-US" sz="1350" dirty="0"/>
          </a:p>
          <a:p>
            <a:pPr marL="457200" lvl="1" indent="-228600">
              <a:lnSpc>
                <a:spcPts val="1823"/>
              </a:lnSpc>
              <a:spcAft>
                <a:spcPts val="500"/>
              </a:spcAft>
              <a:buSzPct val="100000"/>
              <a:buChar char="•"/>
            </a:pPr>
            <a:r>
              <a:rPr lang="en-US" sz="1150" dirty="0">
                <a:solidFill>
                  <a:srgbClr val="64748B"/>
                </a:solidFill>
                <a:latin typeface="Calibri" pitchFamily="34" charset="0"/>
                <a:ea typeface="Calibri" pitchFamily="34" charset="-122"/>
                <a:cs typeface="Calibri" pitchFamily="34" charset="-120"/>
              </a:rPr>
              <a:t>80 terminates and 79 re-analyses — the acceptance region is exactly c ≥ 80</a:t>
            </a:r>
            <a:endParaRPr lang="en-US" sz="1350" dirty="0"/>
          </a:p>
          <a:p>
            <a:pPr marL="228600" indent="-228600">
              <a:lnSpc>
                <a:spcPts val="1823"/>
              </a:lnSpc>
              <a:spcAft>
                <a:spcPts val="900"/>
              </a:spcAft>
              <a:buSzPct val="100000"/>
              <a:buChar char="•"/>
            </a:pPr>
            <a:r>
              <a:rPr lang="en-US" sz="1350" b="1" dirty="0">
                <a:solidFill>
                  <a:srgbClr val="1E293B"/>
                </a:solidFill>
                <a:latin typeface="Calibri" pitchFamily="34" charset="0"/>
                <a:ea typeface="Calibri" pitchFamily="34" charset="-122"/>
                <a:cs typeface="Calibri" pitchFamily="34" charset="-120"/>
              </a:rPr>
              <a:t>The budget is enforced</a:t>
            </a:r>
            <a:endParaRPr lang="en-US" sz="1350" dirty="0"/>
          </a:p>
          <a:p>
            <a:pPr marL="457200" lvl="1" indent="-228600">
              <a:lnSpc>
                <a:spcPts val="1823"/>
              </a:lnSpc>
              <a:spcAft>
                <a:spcPts val="500"/>
              </a:spcAft>
              <a:buSzPct val="100000"/>
              <a:buChar char="•"/>
            </a:pPr>
            <a:r>
              <a:rPr lang="en-US" sz="1150" dirty="0">
                <a:solidFill>
                  <a:srgbClr val="64748B"/>
                </a:solidFill>
                <a:latin typeface="Calibri" pitchFamily="34" charset="0"/>
                <a:ea typeface="Calibri" pitchFamily="34" charset="-122"/>
                <a:cs typeface="Calibri" pitchFamily="34" charset="-120"/>
              </a:rPr>
              <a:t>At three retries the graph terminates regardless of score, bounding the worst case at one extraction, one retrieval, three analyses, three audits</a:t>
            </a:r>
            <a:endParaRPr lang="en-US" sz="1350" dirty="0"/>
          </a:p>
          <a:p>
            <a:pPr marL="228600" indent="-228600">
              <a:lnSpc>
                <a:spcPts val="1823"/>
              </a:lnSpc>
              <a:spcAft>
                <a:spcPts val="900"/>
              </a:spcAft>
              <a:buSzPct val="100000"/>
              <a:buChar char="•"/>
            </a:pPr>
            <a:r>
              <a:rPr lang="en-US" sz="1350" b="1" dirty="0">
                <a:solidFill>
                  <a:srgbClr val="1E293B"/>
                </a:solidFill>
                <a:latin typeface="Calibri" pitchFamily="34" charset="0"/>
                <a:ea typeface="Calibri" pitchFamily="34" charset="-122"/>
                <a:cs typeface="Calibri" pitchFamily="34" charset="-120"/>
              </a:rPr>
              <a:t>The gate is monotone in confidence</a:t>
            </a:r>
            <a:endParaRPr lang="en-US" sz="1350" dirty="0"/>
          </a:p>
          <a:p>
            <a:pPr marL="457200" lvl="1" indent="-228600">
              <a:lnSpc>
                <a:spcPts val="1823"/>
              </a:lnSpc>
              <a:spcAft>
                <a:spcPts val="500"/>
              </a:spcAft>
              <a:buSzPct val="100000"/>
              <a:buChar char="•"/>
            </a:pPr>
            <a:r>
              <a:rPr lang="en-US" sz="1150" dirty="0">
                <a:solidFill>
                  <a:srgbClr val="64748B"/>
                </a:solidFill>
                <a:latin typeface="Calibri" pitchFamily="34" charset="0"/>
                <a:ea typeface="Calibri" pitchFamily="34" charset="-122"/>
                <a:cs typeface="Calibri" pitchFamily="34" charset="-120"/>
              </a:rPr>
              <a:t>There is no score at which the system loops where a lower score would not</a:t>
            </a:r>
            <a:endParaRPr lang="en-US" sz="1350" dirty="0"/>
          </a:p>
          <a:p>
            <a:pPr marL="228600" indent="-228600">
              <a:lnSpc>
                <a:spcPts val="1823"/>
              </a:lnSpc>
              <a:spcAft>
                <a:spcPts val="900"/>
              </a:spcAft>
              <a:buSzPct val="100000"/>
              <a:buChar char="•"/>
            </a:pPr>
            <a:r>
              <a:rPr lang="en-US" sz="1350" b="1" dirty="0">
                <a:solidFill>
                  <a:srgbClr val="1E293B"/>
                </a:solidFill>
                <a:latin typeface="Calibri" pitchFamily="34" charset="0"/>
                <a:ea typeface="Calibri" pitchFamily="34" charset="-122"/>
                <a:cs typeface="Calibri" pitchFamily="34" charset="-120"/>
              </a:rPr>
              <a:t>Tolerant JSON parsing recovers five of six malformed output shapes</a:t>
            </a:r>
            <a:endParaRPr lang="en-US" sz="1350" dirty="0"/>
          </a:p>
          <a:p>
            <a:pPr marL="457200" lvl="1" indent="-228600">
              <a:lnSpc>
                <a:spcPts val="1823"/>
              </a:lnSpc>
              <a:spcAft>
                <a:spcPts val="500"/>
              </a:spcAft>
              <a:buSzPct val="100000"/>
              <a:buChar char="•"/>
            </a:pPr>
            <a:r>
              <a:rPr lang="en-US" sz="1150" dirty="0">
                <a:solidFill>
                  <a:srgbClr val="64748B"/>
                </a:solidFill>
                <a:latin typeface="Calibri" pitchFamily="34" charset="0"/>
                <a:ea typeface="Calibri" pitchFamily="34" charset="-122"/>
                <a:cs typeface="Calibri" pitchFamily="34" charset="-120"/>
              </a:rPr>
              <a:t>The sixth, containing no JSON at all, degrades to a safe empty dictionary by design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00800"/>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ACDSS  ·  B.Tech Project, End Term Evaluation</a:t>
            </a:r>
            <a:endParaRPr lang="en-US" sz="1000" dirty="0"/>
          </a:p>
        </p:txBody>
      </p:sp>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System Characteristics</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Measured from the built artefacts and the source</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4186929"/>
              </p:ext>
            </p:extLst>
          </p:nvPr>
        </p:nvGraphicFramePr>
        <p:xfrm>
          <a:off x="685800" y="1463040"/>
          <a:ext cx="10789920" cy="3771900"/>
        </p:xfrm>
        <a:graphic>
          <a:graphicData uri="http://schemas.openxmlformats.org/drawingml/2006/table">
            <a:tbl>
              <a:tblPr/>
              <a:tblGrid>
                <a:gridCol w="6949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Property</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1E293B"/>
                          </a:solidFill>
                          <a:latin typeface="Calibri"/>
                          <a:ea typeface="Calibri"/>
                          <a:cs typeface="Calibri"/>
                        </a:rPr>
                        <a:t>Compiled </a:t>
                      </a:r>
                      <a:r>
                        <a:rPr lang="en-US" sz="1250" dirty="0" err="1">
                          <a:solidFill>
                            <a:srgbClr val="1E293B"/>
                          </a:solidFill>
                          <a:latin typeface="Calibri"/>
                          <a:ea typeface="Calibri"/>
                          <a:cs typeface="Calibri"/>
                        </a:rPr>
                        <a:t>LangGraph</a:t>
                      </a:r>
                      <a:r>
                        <a:rPr lang="en-US" sz="1250" dirty="0">
                          <a:solidFill>
                            <a:srgbClr val="1E293B"/>
                          </a:solidFill>
                          <a:latin typeface="Calibri"/>
                          <a:ea typeface="Calibri"/>
                          <a:cs typeface="Calibri"/>
                        </a:rPr>
                        <a:t>  state machines</a:t>
                      </a:r>
                      <a:endParaRPr lang="en-US" sz="1250" dirty="0">
                        <a:latin typeface="Calibri"/>
                        <a:ea typeface="Calibri"/>
                        <a:cs typeface="Calibri"/>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2 (4 nodes each)</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Conditional edges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1 (the confidence gate)</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Model calls per run (no retry / max retry)</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7 / 11</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Embedded guideline chunks (diagnosis / treatment)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147 / 107</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Retriever top-k (diagnosis / treatment)</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3 / 2</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Confidence threshold / max analysis passes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80 / 3</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Tools exposed / tool-loop cap</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7 / 5 iterations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REST endpoints / relational tables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7 / 5</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Mean OCR latency per page</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1.91 s</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Marker-value recovery (n = 50)</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50" dirty="0">
                          <a:solidFill>
                            <a:srgbClr val="1E293B"/>
                          </a:solidFill>
                          <a:latin typeface="Calibri" pitchFamily="34" charset="0"/>
                          <a:ea typeface="Calibri" pitchFamily="34" charset="-122"/>
                          <a:cs typeface="Calibri" pitchFamily="34" charset="-120"/>
                        </a:rPr>
                        <a:t>74.0%</a:t>
                      </a:r>
                      <a:endParaRPr lang="en-US" sz="1250" dirty="0">
                        <a:latin typeface="Calibri" charset="0"/>
                        <a:ea typeface="Calibri" charset="0"/>
                        <a:cs typeface="Calibri" charset="0"/>
                      </a:endParaRPr>
                    </a:p>
                  </a:txBody>
                  <a:tcPr marL="76200" marR="76200" marT="76200" marB="76200">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00800"/>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ACDSS  ·  B.Tech Project, End Term Evaluation</a:t>
            </a:r>
            <a:endParaRPr lang="en-US" sz="1000" dirty="0"/>
          </a:p>
        </p:txBody>
      </p:sp>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27</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Conclusion</a:t>
            </a:r>
            <a:endParaRPr lang="en-US" sz="3000" dirty="0"/>
          </a:p>
        </p:txBody>
      </p:sp>
      <p:sp>
        <p:nvSpPr>
          <p:cNvPr id="5" name="Text 3"/>
          <p:cNvSpPr/>
          <p:nvPr/>
        </p:nvSpPr>
        <p:spPr>
          <a:xfrm>
            <a:off x="685800" y="932688"/>
            <a:ext cx="10789920" cy="310896"/>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The concept: clinical reasoning as an explicit, auditable graph — not one large prompt</a:t>
            </a:r>
            <a:endParaRPr lang="en-US" sz="1400" dirty="0"/>
          </a:p>
        </p:txBody>
      </p:sp>
      <p:sp>
        <p:nvSpPr>
          <p:cNvPr id="6" name="Shape 4"/>
          <p:cNvSpPr/>
          <p:nvPr/>
        </p:nvSpPr>
        <p:spPr>
          <a:xfrm>
            <a:off x="685800" y="1417320"/>
            <a:ext cx="3520440" cy="2286000"/>
          </a:xfrm>
          <a:prstGeom prst="roundRect">
            <a:avLst>
              <a:gd name="adj" fmla="val 3200"/>
            </a:avLst>
          </a:prstGeom>
          <a:solidFill>
            <a:srgbClr val="EFF3FB"/>
          </a:solidFill>
          <a:ln w="12700">
            <a:solidFill>
              <a:srgbClr val="D3DDF2"/>
            </a:solidFill>
            <a:prstDash val="solid"/>
          </a:ln>
        </p:spPr>
      </p:sp>
      <p:sp>
        <p:nvSpPr>
          <p:cNvPr id="7" name="Text 5"/>
          <p:cNvSpPr/>
          <p:nvPr/>
        </p:nvSpPr>
        <p:spPr>
          <a:xfrm>
            <a:off x="886968" y="1563624"/>
            <a:ext cx="3118104" cy="384048"/>
          </a:xfrm>
          <a:prstGeom prst="rect">
            <a:avLst/>
          </a:prstGeom>
          <a:noFill/>
          <a:ln/>
        </p:spPr>
        <p:txBody>
          <a:bodyPr wrap="square" lIns="0" tIns="0" rIns="0" bIns="0" rtlCol="0" anchor="ctr"/>
          <a:lstStyle/>
          <a:p>
            <a:pPr marL="0" indent="0">
              <a:buNone/>
            </a:pPr>
            <a:r>
              <a:rPr lang="en-US" sz="1450" b="1" dirty="0">
                <a:solidFill>
                  <a:srgbClr val="1D4ED8"/>
                </a:solidFill>
                <a:latin typeface="Calibri" pitchFamily="34" charset="0"/>
                <a:ea typeface="Calibri" pitchFamily="34" charset="-122"/>
                <a:cs typeface="Calibri" pitchFamily="34" charset="-120"/>
              </a:rPr>
              <a:t>Nothing is asserted that was not retrieved</a:t>
            </a:r>
            <a:endParaRPr lang="en-US" sz="1450" dirty="0"/>
          </a:p>
        </p:txBody>
      </p:sp>
      <p:sp>
        <p:nvSpPr>
          <p:cNvPr id="8" name="Text 6"/>
          <p:cNvSpPr/>
          <p:nvPr/>
        </p:nvSpPr>
        <p:spPr>
          <a:xfrm>
            <a:off x="886968" y="1965960"/>
            <a:ext cx="3118104" cy="1572768"/>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pitchFamily="34" charset="0"/>
                <a:ea typeface="Calibri" pitchFamily="34" charset="-122"/>
                <a:cs typeface="Calibri" pitchFamily="34" charset="-120"/>
              </a:rPr>
              <a:t>Retrieval is a node inside the graph, issued per marker, over two divergent indices — so diagnostic and management evidence never contaminate each other.</a:t>
            </a:r>
            <a:endParaRPr lang="en-US" sz="1200" dirty="0"/>
          </a:p>
        </p:txBody>
      </p:sp>
      <p:sp>
        <p:nvSpPr>
          <p:cNvPr id="9" name="Text 7"/>
          <p:cNvSpPr/>
          <p:nvPr/>
        </p:nvSpPr>
        <p:spPr>
          <a:xfrm>
            <a:off x="886968" y="3291840"/>
            <a:ext cx="3108960" cy="292608"/>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Grounded</a:t>
            </a:r>
            <a:endParaRPr lang="en-US" sz="1100" dirty="0"/>
          </a:p>
        </p:txBody>
      </p:sp>
      <p:sp>
        <p:nvSpPr>
          <p:cNvPr id="10" name="Shape 8"/>
          <p:cNvSpPr/>
          <p:nvPr/>
        </p:nvSpPr>
        <p:spPr>
          <a:xfrm>
            <a:off x="4343400" y="1417320"/>
            <a:ext cx="3520440" cy="2286000"/>
          </a:xfrm>
          <a:prstGeom prst="roundRect">
            <a:avLst>
              <a:gd name="adj" fmla="val 3200"/>
            </a:avLst>
          </a:prstGeom>
          <a:solidFill>
            <a:srgbClr val="EFF3FB"/>
          </a:solidFill>
          <a:ln w="12700">
            <a:solidFill>
              <a:srgbClr val="D3DDF2"/>
            </a:solidFill>
            <a:prstDash val="solid"/>
          </a:ln>
        </p:spPr>
      </p:sp>
      <p:sp>
        <p:nvSpPr>
          <p:cNvPr id="11" name="Text 9"/>
          <p:cNvSpPr/>
          <p:nvPr/>
        </p:nvSpPr>
        <p:spPr>
          <a:xfrm>
            <a:off x="4544568" y="1563624"/>
            <a:ext cx="3118104" cy="384048"/>
          </a:xfrm>
          <a:prstGeom prst="rect">
            <a:avLst/>
          </a:prstGeom>
          <a:noFill/>
          <a:ln/>
        </p:spPr>
        <p:txBody>
          <a:bodyPr wrap="square" lIns="0" tIns="0" rIns="0" bIns="0" rtlCol="0" anchor="ctr"/>
          <a:lstStyle/>
          <a:p>
            <a:pPr marL="0" indent="0">
              <a:buNone/>
            </a:pPr>
            <a:r>
              <a:rPr lang="en-US" sz="1450" b="1" dirty="0">
                <a:solidFill>
                  <a:srgbClr val="1D4ED8"/>
                </a:solidFill>
                <a:latin typeface="Calibri" pitchFamily="34" charset="0"/>
                <a:ea typeface="Calibri" pitchFamily="34" charset="-122"/>
                <a:cs typeface="Calibri" pitchFamily="34" charset="-120"/>
              </a:rPr>
              <a:t>The system knows when it does not know</a:t>
            </a:r>
            <a:endParaRPr lang="en-US" sz="1450" dirty="0"/>
          </a:p>
        </p:txBody>
      </p:sp>
      <p:sp>
        <p:nvSpPr>
          <p:cNvPr id="12" name="Text 10"/>
          <p:cNvSpPr/>
          <p:nvPr/>
        </p:nvSpPr>
        <p:spPr>
          <a:xfrm>
            <a:off x="4544568" y="1965960"/>
            <a:ext cx="3118104" cy="1572768"/>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pitchFamily="34" charset="0"/>
                <a:ea typeface="Calibri" pitchFamily="34" charset="-122"/>
                <a:cs typeface="Calibri" pitchFamily="34" charset="-120"/>
              </a:rPr>
              <a:t>A separate auditor grades the analysis it did not produce, and the confidence gate spends extra inference only where that audit reports doubt.</a:t>
            </a:r>
            <a:endParaRPr lang="en-US" sz="1200" dirty="0"/>
          </a:p>
        </p:txBody>
      </p:sp>
      <p:sp>
        <p:nvSpPr>
          <p:cNvPr id="13" name="Text 11"/>
          <p:cNvSpPr/>
          <p:nvPr/>
        </p:nvSpPr>
        <p:spPr>
          <a:xfrm>
            <a:off x="4544568" y="3291840"/>
            <a:ext cx="3108960" cy="292608"/>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Self-aware</a:t>
            </a:r>
            <a:endParaRPr lang="en-US" sz="1100" dirty="0"/>
          </a:p>
        </p:txBody>
      </p:sp>
      <p:sp>
        <p:nvSpPr>
          <p:cNvPr id="14" name="Shape 12"/>
          <p:cNvSpPr/>
          <p:nvPr/>
        </p:nvSpPr>
        <p:spPr>
          <a:xfrm>
            <a:off x="8001000" y="1417320"/>
            <a:ext cx="3520440" cy="2286000"/>
          </a:xfrm>
          <a:prstGeom prst="roundRect">
            <a:avLst>
              <a:gd name="adj" fmla="val 3200"/>
            </a:avLst>
          </a:prstGeom>
          <a:solidFill>
            <a:srgbClr val="EFF3FB"/>
          </a:solidFill>
          <a:ln w="12700">
            <a:solidFill>
              <a:srgbClr val="D3DDF2"/>
            </a:solidFill>
            <a:prstDash val="solid"/>
          </a:ln>
        </p:spPr>
      </p:sp>
      <p:sp>
        <p:nvSpPr>
          <p:cNvPr id="15" name="Text 13"/>
          <p:cNvSpPr/>
          <p:nvPr/>
        </p:nvSpPr>
        <p:spPr>
          <a:xfrm>
            <a:off x="8202168" y="1563624"/>
            <a:ext cx="3118104" cy="384048"/>
          </a:xfrm>
          <a:prstGeom prst="rect">
            <a:avLst/>
          </a:prstGeom>
          <a:noFill/>
          <a:ln/>
        </p:spPr>
        <p:txBody>
          <a:bodyPr wrap="square" lIns="0" tIns="0" rIns="0" bIns="0" rtlCol="0" anchor="ctr"/>
          <a:lstStyle/>
          <a:p>
            <a:pPr marL="0" indent="0">
              <a:buNone/>
            </a:pPr>
            <a:r>
              <a:rPr lang="en-US" sz="1450" b="1" dirty="0">
                <a:solidFill>
                  <a:srgbClr val="1D4ED8"/>
                </a:solidFill>
                <a:latin typeface="Calibri" pitchFamily="34" charset="0"/>
                <a:ea typeface="Calibri" pitchFamily="34" charset="-122"/>
                <a:cs typeface="Calibri" pitchFamily="34" charset="-120"/>
              </a:rPr>
              <a:t>Safety is a property of the topology</a:t>
            </a:r>
            <a:endParaRPr lang="en-US" sz="1450" dirty="0"/>
          </a:p>
        </p:txBody>
      </p:sp>
      <p:sp>
        <p:nvSpPr>
          <p:cNvPr id="16" name="Text 14"/>
          <p:cNvSpPr/>
          <p:nvPr/>
        </p:nvSpPr>
        <p:spPr>
          <a:xfrm>
            <a:off x="8202168" y="1965960"/>
            <a:ext cx="3118104" cy="1572768"/>
          </a:xfrm>
          <a:prstGeom prst="rect">
            <a:avLst/>
          </a:prstGeom>
          <a:noFill/>
          <a:ln/>
        </p:spPr>
        <p:txBody>
          <a:bodyPr wrap="square" lIns="0" tIns="0" rIns="0" bIns="0" rtlCol="0" anchor="t"/>
          <a:lstStyle/>
          <a:p>
            <a:pPr marL="0" indent="0">
              <a:lnSpc>
                <a:spcPts val="1700"/>
              </a:lnSpc>
              <a:buNone/>
            </a:pPr>
            <a:r>
              <a:rPr lang="en-US" sz="1200" dirty="0">
                <a:solidFill>
                  <a:srgbClr val="1E293B"/>
                </a:solidFill>
                <a:latin typeface="Calibri" pitchFamily="34" charset="0"/>
                <a:ea typeface="Calibri" pitchFamily="34" charset="-122"/>
                <a:cs typeface="Calibri" pitchFamily="34" charset="-120"/>
              </a:rPr>
              <a:t>Contraindications are derived before the planner exists, and a meta-evaluation stage cross-checks the plan against the diagnosis before either is shown.</a:t>
            </a:r>
            <a:endParaRPr lang="en-US" sz="1200" dirty="0"/>
          </a:p>
        </p:txBody>
      </p:sp>
      <p:sp>
        <p:nvSpPr>
          <p:cNvPr id="17" name="Text 15"/>
          <p:cNvSpPr/>
          <p:nvPr/>
        </p:nvSpPr>
        <p:spPr>
          <a:xfrm>
            <a:off x="8202168" y="3291840"/>
            <a:ext cx="3108960" cy="292608"/>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Safe by construction</a:t>
            </a:r>
            <a:endParaRPr lang="en-US" sz="1100" dirty="0"/>
          </a:p>
        </p:txBody>
      </p:sp>
      <p:sp>
        <p:nvSpPr>
          <p:cNvPr id="18" name="Text 16"/>
          <p:cNvSpPr/>
          <p:nvPr/>
        </p:nvSpPr>
        <p:spPr>
          <a:xfrm>
            <a:off x="685800" y="3931920"/>
            <a:ext cx="10810376" cy="1616668"/>
          </a:xfrm>
          <a:prstGeom prst="rect">
            <a:avLst/>
          </a:prstGeom>
          <a:noFill/>
          <a:ln/>
        </p:spPr>
        <p:txBody>
          <a:bodyPr wrap="square" lIns="0" tIns="0" rIns="0" bIns="0" rtlCol="0" anchor="t"/>
          <a:lstStyle/>
          <a:p>
            <a:pPr marL="228600" indent="-228600">
              <a:lnSpc>
                <a:spcPts val="2025"/>
              </a:lnSpc>
              <a:spcAft>
                <a:spcPts val="900"/>
              </a:spcAft>
              <a:buSzPct val="100000"/>
              <a:buChar char="•"/>
            </a:pPr>
            <a:r>
              <a:rPr lang="en-US" sz="1500" b="1" dirty="0">
                <a:solidFill>
                  <a:srgbClr val="1E293B"/>
                </a:solidFill>
                <a:latin typeface="Calibri" pitchFamily="34" charset="0"/>
                <a:ea typeface="Calibri" pitchFamily="34" charset="-122"/>
                <a:cs typeface="Calibri" pitchFamily="34" charset="-120"/>
              </a:rPr>
              <a:t>Each of the three failure modes that opened this talk is answered by a structural property, not by a larger model</a:t>
            </a:r>
            <a:endParaRPr lang="en-US" sz="1500" dirty="0"/>
          </a:p>
          <a:p>
            <a:pPr marL="228600" indent="-228600">
              <a:lnSpc>
                <a:spcPts val="2025"/>
              </a:lnSpc>
              <a:spcAft>
                <a:spcPts val="900"/>
              </a:spcAft>
              <a:buSzPct val="100000"/>
              <a:buChar char="•"/>
            </a:pPr>
            <a:r>
              <a:rPr lang="en-US" sz="1500" b="1">
                <a:solidFill>
                  <a:srgbClr val="1E293B"/>
                </a:solidFill>
                <a:latin typeface="Calibri"/>
                <a:ea typeface="Calibri"/>
                <a:cs typeface="Calibri"/>
              </a:rPr>
              <a:t>The architecture is verifiable: control flow confirms to specification across its full decision domain.</a:t>
            </a:r>
            <a:endParaRPr lang="en-US" sz="1500">
              <a:latin typeface="Calibri"/>
              <a:ea typeface="Calibri"/>
              <a:cs typeface="Calibri"/>
            </a:endParaRPr>
          </a:p>
        </p:txBody>
      </p:sp>
    </p:spTree>
    <p:extLst>
      <p:ext uri="{BB962C8B-B14F-4D97-AF65-F5344CB8AC3E}">
        <p14:creationId xmlns:p14="http://schemas.microsoft.com/office/powerpoint/2010/main" val="2068963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00800"/>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ACDSS  ·  B.Tech Project, End Term Evaluation</a:t>
            </a:r>
            <a:endParaRPr lang="en-US" sz="1000" dirty="0"/>
          </a:p>
        </p:txBody>
      </p:sp>
      <p:sp>
        <p:nvSpPr>
          <p:cNvPr id="3" name="Text 1"/>
          <p:cNvSpPr/>
          <p:nvPr/>
        </p:nvSpPr>
        <p:spPr>
          <a:xfrm>
            <a:off x="10561320" y="6400800"/>
            <a:ext cx="9144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29</a:t>
            </a:r>
            <a:endParaRPr lang="en-US" sz="1000" dirty="0"/>
          </a:p>
        </p:txBody>
      </p:sp>
      <p:sp>
        <p:nvSpPr>
          <p:cNvPr id="4" name="Text 2"/>
          <p:cNvSpPr/>
          <p:nvPr/>
        </p:nvSpPr>
        <p:spPr>
          <a:xfrm>
            <a:off x="685800" y="384048"/>
            <a:ext cx="10789920" cy="54864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References</a:t>
            </a:r>
            <a:endParaRPr lang="en-US" sz="3000" dirty="0"/>
          </a:p>
        </p:txBody>
      </p:sp>
      <p:sp>
        <p:nvSpPr>
          <p:cNvPr id="5" name="Text 3"/>
          <p:cNvSpPr/>
          <p:nvPr/>
        </p:nvSpPr>
        <p:spPr>
          <a:xfrm>
            <a:off x="685800" y="1163456"/>
            <a:ext cx="10789920" cy="4983480"/>
          </a:xfrm>
          <a:prstGeom prst="rect">
            <a:avLst/>
          </a:prstGeom>
          <a:noFill/>
          <a:ln/>
        </p:spPr>
        <p:txBody>
          <a:bodyPr wrap="square" lIns="0" tIns="0" rIns="0" bIns="0" rtlCol="0" anchor="t"/>
          <a:lstStyle/>
          <a:p>
            <a:pPr marL="285750" indent="-285750">
              <a:buSzPct val="100000"/>
              <a:buFont typeface="Arial"/>
              <a:buChar char="•"/>
            </a:pPr>
            <a:r>
              <a:rPr lang="en-US" sz="1400">
                <a:solidFill>
                  <a:srgbClr val="1E293B"/>
                </a:solidFill>
                <a:ea typeface="+mn-lt"/>
                <a:cs typeface="+mn-lt"/>
              </a:rPr>
              <a:t> W. Li, Y. Zhang, C. Wang, Y. Li, X. He, A. L. Wang, M. Xu, F. Zhang, H. Sun, K. Wang et al., “Care: A clinical agentic reasoning engine to enhance real-world diagnostic accuracy via structured medical reasoning,” Expert Systems with Applications, p. 131476, 2026.</a:t>
            </a:r>
            <a:endParaRPr lang="en-US" dirty="0">
              <a:ea typeface="+mn-lt"/>
              <a:cs typeface="+mn-lt"/>
            </a:endParaRPr>
          </a:p>
          <a:p>
            <a:pPr>
              <a:buSzPct val="100000"/>
            </a:pPr>
            <a:endParaRPr lang="en-US" sz="1400" dirty="0">
              <a:solidFill>
                <a:srgbClr val="1E293B"/>
              </a:solidFill>
              <a:ea typeface="+mn-lt"/>
              <a:cs typeface="+mn-lt"/>
            </a:endParaRPr>
          </a:p>
          <a:p>
            <a:pPr marL="285750" indent="-285750">
              <a:buSzPct val="100000"/>
              <a:buFont typeface="Arial"/>
              <a:buChar char="•"/>
            </a:pPr>
            <a:r>
              <a:rPr lang="en-US" sz="1400" dirty="0">
                <a:solidFill>
                  <a:srgbClr val="1E293B"/>
                </a:solidFill>
                <a:ea typeface="+mn-lt"/>
                <a:cs typeface="+mn-lt"/>
              </a:rPr>
              <a:t> J. U. Reza and Y. Mamatjan, “Ai agents for clinical data assessment: Enhancing decision-making with human-ai </a:t>
            </a:r>
            <a:r>
              <a:rPr lang="en-US" sz="1400">
                <a:solidFill>
                  <a:srgbClr val="1E293B"/>
                </a:solidFill>
                <a:ea typeface="+mn-lt"/>
                <a:cs typeface="+mn-lt"/>
              </a:rPr>
              <a:t>collaboration,” in</a:t>
            </a:r>
            <a:r>
              <a:rPr lang="en-US" sz="1400" dirty="0">
                <a:solidFill>
                  <a:srgbClr val="1E293B"/>
                </a:solidFill>
                <a:ea typeface="+mn-lt"/>
                <a:cs typeface="+mn-lt"/>
              </a:rPr>
              <a:t> 2025    IEEE   49th      Annual Computers, Software, and Applications Conference (COMPSAC). IEEE, 2025, pp. 2112–2117</a:t>
            </a:r>
            <a:endParaRPr lang="en-US">
              <a:ea typeface="Calibri" panose="020F0502020204030204"/>
              <a:cs typeface="Calibri" panose="020F0502020204030204"/>
            </a:endParaRPr>
          </a:p>
          <a:p>
            <a:pPr marL="285750" indent="-285750">
              <a:buSzPct val="100000"/>
              <a:buFont typeface="Arial"/>
              <a:buChar char="•"/>
            </a:pPr>
            <a:endParaRPr lang="en-US" sz="1400" dirty="0">
              <a:solidFill>
                <a:srgbClr val="1E293B"/>
              </a:solidFill>
              <a:ea typeface="+mn-lt"/>
              <a:cs typeface="+mn-lt"/>
            </a:endParaRPr>
          </a:p>
          <a:p>
            <a:pPr marL="228600" indent="-228600">
              <a:lnSpc>
                <a:spcPts val="1889"/>
              </a:lnSpc>
              <a:spcAft>
                <a:spcPts val="900"/>
              </a:spcAft>
              <a:buSzPct val="100000"/>
              <a:buFont typeface="Arial"/>
              <a:buChar char="•"/>
            </a:pPr>
            <a:r>
              <a:rPr lang="en-US" sz="1400" dirty="0">
                <a:solidFill>
                  <a:srgbClr val="1E293B"/>
                </a:solidFill>
                <a:ea typeface="+mn-lt"/>
                <a:cs typeface="+mn-lt"/>
              </a:rPr>
              <a:t>Chow, M. and Ng, O. "Beyond Chatbots: Moving Toward Multistep Modular AI Agents in Medical Education." JMIR Medical Education, 2025.</a:t>
            </a:r>
            <a:endParaRPr lang="en-US" sz="1400" dirty="0">
              <a:ea typeface="+mn-lt"/>
              <a:cs typeface="+mn-lt"/>
            </a:endParaRPr>
          </a:p>
          <a:p>
            <a:pPr>
              <a:lnSpc>
                <a:spcPts val="1889"/>
              </a:lnSpc>
              <a:spcAft>
                <a:spcPts val="900"/>
              </a:spcAft>
              <a:buSzPct val="100000"/>
            </a:pPr>
            <a:endParaRPr lang="en-US" sz="1400" err="1">
              <a:ea typeface="+mn-lt"/>
              <a:cs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0">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685800" y="2651760"/>
            <a:ext cx="10789920"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Clinical Decision Support System (ACDSS)</dc:title>
  <dc:subject>PptxGenJS Presentation</dc:subject>
  <dc:creator>Udayveer; Pyata Harshith</dc:creator>
  <cp:lastModifiedBy>Udayveer; Pyata Harshith</cp:lastModifiedBy>
  <cp:revision>150</cp:revision>
  <dcterms:created xsi:type="dcterms:W3CDTF">2026-08-02T18:31:01Z</dcterms:created>
  <dcterms:modified xsi:type="dcterms:W3CDTF">2026-08-02T19:31:56Z</dcterms:modified>
</cp:coreProperties>
</file>